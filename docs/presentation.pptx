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510" autoAdjust="0"/>
  </p:normalViewPr>
  <p:slideViewPr>
    <p:cSldViewPr snapToGrid="0" snapToObjects="1">
      <p:cViewPr>
        <p:scale>
          <a:sx n="75" d="100"/>
          <a:sy n="75" d="100"/>
        </p:scale>
        <p:origin x="946" y="-40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05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 SCRIPT — Slide 1: Title — ~25 seconds]</a:t>
            </a:r>
          </a:p>
          <a:p>
            <a:endParaRPr/>
          </a:p>
          <a:p>
            <a:r>
              <a:t>"Good morning, respected teachers and classmates. We are Team 13 — Razibit and The Tokenizers — from the Department of Computer Science and Engineering at Metropolitan University.</a:t>
            </a:r>
          </a:p>
          <a:p>
            <a:endParaRPr/>
          </a:p>
          <a:p>
            <a:r>
              <a:t>I am Rajib Dab, and with me is Md Monsur Alam. Our project is a Mini Programming Language Compiler, built using Flex, Bison, and C. It takes custom source code written in our mini language and produces Three-Address Code as the intermediate representation.</a:t>
            </a:r>
          </a:p>
          <a:p>
            <a:endParaRPr/>
          </a:p>
          <a:p>
            <a:r>
              <a:t>Let me walk you through what we've built."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2: Project Objectives — ~35 seconds]</a:t>
            </a:r>
          </a:p>
          <a:p>
            <a:endParaRPr dirty="0"/>
          </a:p>
          <a:p>
            <a:r>
              <a:rPr dirty="0"/>
              <a:t>"Our project implements the complete front-end of a compiler, organized into five key objectives.</a:t>
            </a:r>
          </a:p>
          <a:p>
            <a:endParaRPr dirty="0"/>
          </a:p>
          <a:p>
            <a:r>
              <a:rPr dirty="0"/>
              <a:t>First, we Recognize — our lexical analyzer, written in Flex, scans the raw source code character by character and produces a stream of categorized tokens like keywords, identifiers, literals, and operators.</a:t>
            </a:r>
          </a:p>
          <a:p>
            <a:endParaRPr dirty="0"/>
          </a:p>
          <a:p>
            <a:r>
              <a:rPr dirty="0"/>
              <a:t>Second, we Parse — our Bison-based syntax analyzer checks whether the token sequence follows our defined context-free grammar.</a:t>
            </a:r>
          </a:p>
          <a:p>
            <a:endParaRPr dirty="0"/>
          </a:p>
          <a:p>
            <a:r>
              <a:rPr dirty="0"/>
              <a:t>Third, we Represent — we construct an Abstract Syntax Tree that captures the hierarchical structure and meaning of the program, stripping away grammatical noise.</a:t>
            </a:r>
          </a:p>
          <a:p>
            <a:endParaRPr dirty="0"/>
          </a:p>
          <a:p>
            <a:r>
              <a:rPr dirty="0"/>
              <a:t>Fourth, we Validate — our semantic analyzer performs type checking, catches undeclared variables, and detects redeclarations within the same scope.</a:t>
            </a:r>
          </a:p>
          <a:p>
            <a:endParaRPr dirty="0"/>
          </a:p>
          <a:p>
            <a:r>
              <a:rPr dirty="0"/>
              <a:t>And fifth, we Generate — we produce Three-Address Code, a linear intermediate representation using temporary variables and labeled jumps, which could serve as input to an optimizer or backend."</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3: Mini Language Specification — ~40 seconds]</a:t>
            </a:r>
          </a:p>
          <a:p>
            <a:endParaRPr dirty="0"/>
          </a:p>
          <a:p>
            <a:r>
              <a:rPr dirty="0"/>
              <a:t>"Our mini language is a standardized specification defined</a:t>
            </a:r>
            <a:r>
              <a:rPr lang="en-US" dirty="0"/>
              <a:t> on the assignment instruction</a:t>
            </a:r>
            <a:r>
              <a:rPr dirty="0"/>
              <a:t>. All teams implement the same language</a:t>
            </a:r>
            <a:r>
              <a:rPr lang="en-US" dirty="0"/>
              <a:t>.</a:t>
            </a:r>
          </a:p>
          <a:p>
            <a:endParaRPr dirty="0"/>
          </a:p>
          <a:p>
            <a:r>
              <a:rPr dirty="0"/>
              <a:t>The language supports three data types: int for signed integers, float for decimal numbers, and bool with true and false literals.</a:t>
            </a:r>
          </a:p>
          <a:p>
            <a:endParaRPr dirty="0"/>
          </a:p>
          <a:p>
            <a:r>
              <a:rPr dirty="0"/>
              <a:t>For operators, we support the full set — arithmetic operators including modulo, six relational operators for comparisons, and three logical operators: AND, OR, and NOT.</a:t>
            </a:r>
          </a:p>
          <a:p>
            <a:endParaRPr dirty="0"/>
          </a:p>
          <a:p>
            <a:r>
              <a:rPr dirty="0"/>
              <a:t>For control flow, we have if and if-else conditionals, while loops, and print statements. Variables live inside block scopes defined by curly braces, and we support nested scopes with proper variable shadowing.</a:t>
            </a:r>
          </a:p>
          <a:p>
            <a:endParaRPr dirty="0"/>
          </a:p>
          <a:p>
            <a:r>
              <a:rPr dirty="0"/>
              <a:t>On the right, </a:t>
            </a:r>
            <a:r>
              <a:rPr lang="en-US" dirty="0"/>
              <a:t>we</a:t>
            </a:r>
            <a:r>
              <a:rPr dirty="0"/>
              <a:t> can see our sample program that demonstrates all these features — declarations, assignments, a while loop that accumulates a sum, and an if-else that conditionally prints the result. Comments are stripped during lexical analysis."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4: Compiler Architecture — ~50 seconds]</a:t>
            </a:r>
          </a:p>
          <a:p>
            <a:endParaRPr dirty="0"/>
          </a:p>
          <a:p>
            <a:r>
              <a:rPr dirty="0"/>
              <a:t>"Here you can see our complete compiler pipeline. The source code, written in dot-mc files, flows through seven stages from left to right.</a:t>
            </a:r>
          </a:p>
          <a:p>
            <a:endParaRPr dirty="0"/>
          </a:p>
          <a:p>
            <a:r>
              <a:rPr dirty="0"/>
              <a:t>The Lexer, built with Flex, scans the source and produces a token stream. The Parser, built with Bison using LALR(1) parsing, validates the grammar and constructs a parse tree. From that, we build an Abstract Syntax Tree that strips away grammatical noise and preserves only the meaningful structure.</a:t>
            </a:r>
          </a:p>
          <a:p>
            <a:endParaRPr dirty="0"/>
          </a:p>
          <a:p>
            <a:r>
              <a:rPr dirty="0"/>
              <a:t>The Symbol Table maintains a scope stack — essentially a stack of hash tables — where each block scope gets its own level. The Semantic Analyzer walks the AST to perform type checking, detect undeclared variables, and verify declaration rules. Finally, the TAC Generator translates the validated AST into Three-Address Code using temporary variables and labels.</a:t>
            </a:r>
          </a:p>
          <a:p>
            <a:endParaRPr dirty="0"/>
          </a:p>
          <a:p>
            <a:r>
              <a:rPr dirty="0"/>
              <a:t>Everything is compiled into a single C binary using GCC. The driver program in </a:t>
            </a:r>
            <a:r>
              <a:rPr dirty="0" err="1"/>
              <a:t>main.c</a:t>
            </a:r>
            <a:r>
              <a:rPr dirty="0"/>
              <a:t> orchestrates the entire pipeline — it opens the source file, triggers the Flex-Bison parsing, then calls </a:t>
            </a:r>
            <a:r>
              <a:rPr dirty="0" err="1"/>
              <a:t>gen_code</a:t>
            </a:r>
            <a:r>
              <a:rPr dirty="0"/>
              <a:t> on the AST root to perform semantic analysis and TAC generation simultaneously. All outputs are printed to </a:t>
            </a:r>
            <a:r>
              <a:rPr dirty="0" err="1"/>
              <a:t>stdout</a:t>
            </a:r>
            <a:r>
              <a:rPr dirty="0"/>
              <a:t> in clearly labeled sections."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5: Lexical Analysis — ~40 seconds]</a:t>
            </a:r>
          </a:p>
          <a:p>
            <a:endParaRPr dirty="0"/>
          </a:p>
          <a:p>
            <a:r>
              <a:rPr dirty="0"/>
              <a:t>"The first phase of our compiler is lexical analysis, implemented using Flex. The </a:t>
            </a:r>
            <a:r>
              <a:rPr dirty="0" err="1"/>
              <a:t>lexer's</a:t>
            </a:r>
            <a:r>
              <a:rPr dirty="0"/>
              <a:t> job is simple but critical — it reads the raw character stream and groups characters into meaningful tokens.</a:t>
            </a:r>
          </a:p>
          <a:p>
            <a:endParaRPr dirty="0"/>
          </a:p>
          <a:p>
            <a:r>
              <a:rPr dirty="0"/>
              <a:t>On the left, you can see the six categories of tokens our </a:t>
            </a:r>
            <a:r>
              <a:rPr dirty="0" err="1"/>
              <a:t>lexer</a:t>
            </a:r>
            <a:r>
              <a:rPr dirty="0"/>
              <a:t> recognizes: nine keywords like int, float, and while; identifiers following the standard naming pattern; integer and float literals; the full set of arithmetic, relational, and logical operators; five delimiters; and both single-line and block comments, which are silently stripped.</a:t>
            </a:r>
          </a:p>
          <a:p>
            <a:endParaRPr dirty="0"/>
          </a:p>
          <a:p>
            <a:r>
              <a:rPr dirty="0"/>
              <a:t>On the right, I'm showing you a concrete example. When the </a:t>
            </a:r>
            <a:r>
              <a:rPr dirty="0" err="1"/>
              <a:t>lexer</a:t>
            </a:r>
            <a:r>
              <a:rPr dirty="0"/>
              <a:t> processes the statement 'int x semicolon', it produces three tokens — the keyword 'int', the identifier 'x', and the semicolon delimiter — each tagged with the line number for error reporting.</a:t>
            </a:r>
          </a:p>
          <a:p>
            <a:endParaRPr dirty="0"/>
          </a:p>
          <a:p>
            <a:r>
              <a:rPr dirty="0"/>
              <a:t>Flex's longest-match rule is important here — it ensures that when the </a:t>
            </a:r>
            <a:r>
              <a:rPr dirty="0" err="1"/>
              <a:t>lexer</a:t>
            </a:r>
            <a:r>
              <a:rPr dirty="0"/>
              <a:t> sees 'less-than-equals', it correctly produces a single LESS_EQUAL token rather than two separate tokens. Any unrecognized character, like an at-sign or dollar sign, triggers a lexical error with the exact line number."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6: Syntax Analysis &amp; AST — ~55 seconds]</a:t>
            </a:r>
          </a:p>
          <a:p>
            <a:endParaRPr dirty="0"/>
          </a:p>
          <a:p>
            <a:r>
              <a:rPr dirty="0"/>
              <a:t>"The second and third phases work together. Our Bison-based parser uses LALR(1) parsing — a bottom-up approach — to validate the token stream against our context-free grammar.</a:t>
            </a:r>
          </a:p>
          <a:p>
            <a:endParaRPr dirty="0"/>
          </a:p>
          <a:p>
            <a:r>
              <a:rPr dirty="0"/>
              <a:t>The parser enforces operator precedence correctly. Logical NOT has the highest precedence, followed by multiplication, division, and modulo, then addition and subtraction, then relational operators, and finally logical AND </a:t>
            </a:r>
            <a:r>
              <a:rPr dirty="0" err="1"/>
              <a:t>and</a:t>
            </a:r>
            <a:r>
              <a:rPr dirty="0"/>
              <a:t> OR. This ensures expressions are parsed with the mathematically correct structure.</a:t>
            </a:r>
          </a:p>
          <a:p>
            <a:endParaRPr dirty="0"/>
          </a:p>
          <a:p>
            <a:r>
              <a:rPr dirty="0"/>
              <a:t>When a syntax error occurs — for example, a missing semicolon or unmatched parenthesis — the parser reports the error with the line number and then attempts recovery using Bison's error token. It synchronizes on the next semicolon and continues parsing to find additional errors.</a:t>
            </a:r>
          </a:p>
          <a:p>
            <a:endParaRPr dirty="0"/>
          </a:p>
          <a:p>
            <a:r>
              <a:rPr dirty="0"/>
              <a:t>As the parser processes the grammar, it simultaneously constructs an Abstract Syntax Tree. On the right, </a:t>
            </a:r>
            <a:r>
              <a:rPr lang="en-US" dirty="0"/>
              <a:t>we</a:t>
            </a:r>
            <a:r>
              <a:rPr dirty="0"/>
              <a:t> can see how the assignment 'x = a + b * 2' is represented. Notice that multiplication sits deeper in the tree than addition — this is the key insight. The AST structurally encodes that b times 2 must be evaluated before adding a. All the grammatical noise — parentheses, semicolons — is gone. Only the meaning remains.</a:t>
            </a:r>
          </a:p>
          <a:p>
            <a:endParaRPr dirty="0"/>
          </a:p>
          <a:p>
            <a:r>
              <a:rPr dirty="0"/>
              <a:t>We define 15 node types covering every construct in our language, from program and statement lists down to individual literals."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7: Symbol Table — ~40 seconds]</a:t>
            </a:r>
          </a:p>
          <a:p>
            <a:endParaRPr dirty="0"/>
          </a:p>
          <a:p>
            <a:r>
              <a:rPr dirty="0"/>
              <a:t>"The symbol table is the compiler's memory — it tracks every variable declaration and where it belongs.</a:t>
            </a:r>
          </a:p>
          <a:p>
            <a:endParaRPr dirty="0"/>
          </a:p>
          <a:p>
            <a:r>
              <a:rPr dirty="0"/>
              <a:t>Our design uses a scope stack. Think of it as a stack of notebooks. The global scope, Scope 0, is always at the bottom. Every time we encounter an opening curly brace, we push a new scope — a new notebook — onto the stack. When we hit the closing brace, we pop it off, and all variables declared inside that block become invisible.</a:t>
            </a:r>
          </a:p>
          <a:p>
            <a:endParaRPr dirty="0"/>
          </a:p>
          <a:p>
            <a:r>
              <a:rPr dirty="0"/>
              <a:t>Each symbol entry records four fields: the variable name, its data type, the scope level, and the line number where it was declared.</a:t>
            </a:r>
          </a:p>
          <a:p>
            <a:endParaRPr dirty="0"/>
          </a:p>
          <a:p>
            <a:r>
              <a:rPr dirty="0"/>
              <a:t>When we need to look up a variable, we search from the innermost scope first, then move outward. This is how variable shadowing works — an inner 'x' can shadow an outer 'x'. However, declaring the same variable name twice in the SAME scope is detected as a redeclaration error.</a:t>
            </a:r>
          </a:p>
          <a:p>
            <a:endParaRPr dirty="0"/>
          </a:p>
          <a:p>
            <a:r>
              <a:rPr dirty="0"/>
              <a:t>On the right, you can see actual output from our compiler. Notice 'temp' exists only in Scope 1, the while block. If you try to use 'temp' after the while loop, the semantic analyzer will catch it because that scope has already been popped."</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 SCRIPT — Slide 8: Semantic Analysis — ~45 seconds]</a:t>
            </a:r>
          </a:p>
          <a:p>
            <a:endParaRPr/>
          </a:p>
          <a:p>
            <a:r>
              <a:t>"Semantic analysis is where the compiler goes beyond grammar and checks meaning. A statement can be syntactically perfect but semantically wrong.</a:t>
            </a:r>
          </a:p>
          <a:p>
            <a:endParaRPr/>
          </a:p>
          <a:p>
            <a:r>
              <a:t>We detect four main categories of errors. First, undeclared variable usage — if you try to assign to 'y' without declaring it first, our semantic analyzer catches it immediately and reports the exact line number.</a:t>
            </a:r>
          </a:p>
          <a:p>
            <a:endParaRPr/>
          </a:p>
          <a:p>
            <a:r>
              <a:t>Second, type mismatches — our language is statically typed. If you declare 'flag' as a boolean but try to assign an integer expression like 5 + 3 to it, that's a type mismatch. The expression evaluates to an int, but the target variable is bool — our analyzer rejects it.</a:t>
            </a:r>
          </a:p>
          <a:p>
            <a:endParaRPr/>
          </a:p>
          <a:p>
            <a:r>
              <a:t>We also detect lexical errors — characters that aren't part of our language at all, like the at-sign — and syntax errors like missing parentheses.</a:t>
            </a:r>
          </a:p>
          <a:p>
            <a:endParaRPr/>
          </a:p>
          <a:p>
            <a:r>
              <a:t>Each error is reported with the specific line number where it occurred, which is crucial for debugging. The semantic analyzer walks the AST and performs these checks alongside TAC generation — it's a single pass that both validates and generates code."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 SCRIPT — Slide 9: Three-Address Code — ~45 seconds]</a:t>
            </a:r>
          </a:p>
          <a:p>
            <a:endParaRPr/>
          </a:p>
          <a:p>
            <a:r>
              <a:t>"The final phase of our compiler generates Three-Address Code — a linear intermediate representation where each instruction operates on at most three operands.</a:t>
            </a:r>
          </a:p>
          <a:p>
            <a:endParaRPr/>
          </a:p>
          <a:p>
            <a:r>
              <a:t>The format is straightforward: result equals operand one, operator, operand two. Complex expressions are broken down into simple steps using temporary variables named t1, t2, t3, and so on. Control flow is managed through labeled jumps.</a:t>
            </a:r>
          </a:p>
          <a:p>
            <a:endParaRPr/>
          </a:p>
          <a:p>
            <a:r>
              <a:t>Let me show you a concrete example. The expression 'c = a + b * 2' cannot be a single TAC instruction because it involves two operations. So we decompose it: first, t1 = b * 2 — respecting operator precedence — then t2 = a + t1, and finally c = t2.</a:t>
            </a:r>
          </a:p>
          <a:p>
            <a:endParaRPr/>
          </a:p>
          <a:p>
            <a:r>
              <a:t>On the right, you can see how a while loop translates to TAC. Label L0 marks the loop start where the condition is checked. The condition 'n &gt; 0' is evaluated into temporary t1. Then 'if_false t1 goto L1' — if the condition is false, jump to L1, the loop exit. If true, we execute the loop body — computing sum + n and n - 1 using temporaries — and then 'goto L0' jumps unconditionally back to recheck the condition.</a:t>
            </a:r>
          </a:p>
          <a:p>
            <a:endParaRPr/>
          </a:p>
          <a:p>
            <a:r>
              <a:t>This TAC output could serve as input to an optimizer or a backend code generator targeting actual machine code."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 SCRIPT — Slide 10: Testing &amp; Error Handling — ~40 seconds]</a:t>
            </a:r>
          </a:p>
          <a:p>
            <a:endParaRPr/>
          </a:p>
          <a:p>
            <a:r>
              <a:t>"We developed a comprehensive test suite with 9 test cases — 5 valid programs and 4 invalid programs — to verify every phase of our compiler.</a:t>
            </a:r>
          </a:p>
          <a:p>
            <a:endParaRPr/>
          </a:p>
          <a:p>
            <a:r>
              <a:t>On the left are our valid test cases. test_arithmetic verifies operator precedence — making sure b * 2 is computed before adding a. test_if_else validates conditional branching with proper label generation. test_while checks loop semantics with accumulation. test_nested_scopes confirms that a variable declared inside a while block is invisible outside it. And our sample program exercises all features together.</a:t>
            </a:r>
          </a:p>
          <a:p>
            <a:endParaRPr/>
          </a:p>
          <a:p>
            <a:r>
              <a:t>On the right are our error detection tests. test_type_mismatch tries three illegal assignments — float to int, int expression to bool, and bool to float — and our semantic analyzer catches all of them. test_undeclared uses variables without declaring them. test_lexical_error includes invalid characters like at-sign, hash, and dollar. test_syntax_error has missing semicolons and parentheses — and our parser recovers to continue finding more errors.</a:t>
            </a:r>
          </a:p>
          <a:p>
            <a:endParaRPr/>
          </a:p>
          <a:p>
            <a:r>
              <a:t>All 9 test cases produce the expected output. Every error message includes the specific line number where the problem occurs."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 SCRIPT — Slide 11: Challenges, Conclusion &amp; Live Demo — ~2:50 total]</a:t>
            </a:r>
          </a:p>
          <a:p>
            <a:endParaRPr dirty="0"/>
          </a:p>
          <a:p>
            <a:r>
              <a:rPr dirty="0"/>
              <a:t>[Rajib speaks — ~30 seconds for challenges and conclusion:]</a:t>
            </a:r>
          </a:p>
          <a:p>
            <a:endParaRPr dirty="0"/>
          </a:p>
          <a:p>
            <a:r>
              <a:rPr dirty="0"/>
              <a:t>"Before we move to the demo, let me briefly share a key challenge we faced. Debugging the integration between Flex and Bison was the hardest part of this project. Cryptic error messages, shift-reduce conflicts, and coordinating token definitions across the shared header file required patience and methodical debugging. Our approach was incremental — we added one grammar rule at a time, tested it, and only then moved to the next.</a:t>
            </a:r>
          </a:p>
          <a:p>
            <a:endParaRPr dirty="0"/>
          </a:p>
          <a:p>
            <a:r>
              <a:rPr dirty="0"/>
              <a:t>Despite these challenges, we successfully implemented all six phases of the front-end compiler pipeline. Our compiler accurately detects errors with precise line numbers, and we've verified it with a comprehensive test suite of 9 test cases covering both valid and invalid programs.</a:t>
            </a:r>
          </a:p>
          <a:p>
            <a:endParaRPr dirty="0"/>
          </a:p>
          <a:p>
            <a:r>
              <a:rPr dirty="0"/>
              <a:t>For future work, this compiler could be extended with optimization passes like constant folding and dead code elimination, and a backend code generator targeting actual machine instructions.</a:t>
            </a:r>
          </a:p>
          <a:p>
            <a:endParaRPr dirty="0"/>
          </a:p>
          <a:p>
            <a:r>
              <a:rPr dirty="0"/>
              <a:t>Now, I'll hand it over to </a:t>
            </a:r>
            <a:r>
              <a:rPr dirty="0" err="1"/>
              <a:t>Monsur</a:t>
            </a:r>
            <a:r>
              <a:rPr dirty="0"/>
              <a:t> for a live demonstration of our compiler."</a:t>
            </a:r>
          </a:p>
          <a:p>
            <a:endParaRPr dirty="0"/>
          </a:p>
          <a:p>
            <a:r>
              <a:rPr dirty="0"/>
              <a:t>[Md </a:t>
            </a:r>
            <a:r>
              <a:rPr dirty="0" err="1"/>
              <a:t>Monsur</a:t>
            </a:r>
            <a:r>
              <a:rPr dirty="0"/>
              <a:t> Alam takes over — ~2:00-2:20 for live demo:]</a:t>
            </a:r>
          </a:p>
          <a:p>
            <a:endParaRPr dirty="0"/>
          </a:p>
          <a:p>
            <a:r>
              <a:rPr dirty="0"/>
              <a:t>"Thank you, Rajib. I'll now demonstrate our compiler live.</a:t>
            </a:r>
          </a:p>
          <a:p>
            <a:endParaRPr dirty="0"/>
          </a:p>
          <a:p>
            <a:r>
              <a:rPr dirty="0"/>
              <a:t>First, let me build the compiler using 'make'. You can see Flex processing the </a:t>
            </a:r>
            <a:r>
              <a:rPr dirty="0" err="1"/>
              <a:t>lexer</a:t>
            </a:r>
            <a:r>
              <a:rPr dirty="0"/>
              <a:t> specification, Bison generating the parser, and GCC compiling everything into a single binary.</a:t>
            </a:r>
          </a:p>
          <a:p>
            <a:endParaRPr dirty="0"/>
          </a:p>
          <a:p>
            <a:r>
              <a:rPr dirty="0"/>
              <a:t>Now I'll run our sample program — sample.mc. The output shows four sections: first, the complete token stream with line numbers; second, the Abstract Syntax Tree in indented format; third, the symbol table showing all variables with their types and scope levels; and finally, the Three-Address Code with temporaries and labels.</a:t>
            </a:r>
          </a:p>
          <a:p>
            <a:endParaRPr dirty="0"/>
          </a:p>
          <a:p>
            <a:r>
              <a:rPr dirty="0"/>
              <a:t>Now let me run an invalid program to show error detection. This program has type mismatches, undeclared variables, and syntax errors. Notice how the compiler catches each error and reports the exact line number.</a:t>
            </a:r>
          </a:p>
          <a:p>
            <a:endParaRPr dirty="0"/>
          </a:p>
          <a:p>
            <a:r>
              <a:rPr dirty="0"/>
              <a:t>That concludes our demonstration. Thank you for your attention — we are ready for your questions."</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840480"/>
            <a:ext cx="12191695" cy="635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548640"/>
            <a:ext cx="12191695" cy="457200"/>
          </a:xfrm>
          <a:prstGeom prst="rect">
            <a:avLst/>
          </a:prstGeom>
          <a:noFill/>
        </p:spPr>
        <p:txBody>
          <a:bodyPr wrap="square">
            <a:spAutoFit/>
          </a:bodyPr>
          <a:lstStyle/>
          <a:p>
            <a:pPr algn="ctr">
              <a:lnSpc>
                <a:spcPts val="1820"/>
              </a:lnSpc>
              <a:spcAft>
                <a:spcPts val="0"/>
              </a:spcAft>
              <a:defRPr sz="1400" b="0" i="0">
                <a:solidFill>
                  <a:srgbClr val="D6E8F7"/>
                </a:solidFill>
                <a:latin typeface="Calibri"/>
              </a:defRPr>
            </a:pPr>
            <a:r>
              <a:t>METROPOLITAN UNIVERSITY, BANGLADESH</a:t>
            </a:r>
          </a:p>
        </p:txBody>
      </p:sp>
      <p:sp>
        <p:nvSpPr>
          <p:cNvPr id="5" name="TextBox 4"/>
          <p:cNvSpPr txBox="1"/>
          <p:nvPr/>
        </p:nvSpPr>
        <p:spPr>
          <a:xfrm>
            <a:off x="0" y="914400"/>
            <a:ext cx="12191695" cy="299826"/>
          </a:xfrm>
          <a:prstGeom prst="rect">
            <a:avLst/>
          </a:prstGeom>
          <a:noFill/>
        </p:spPr>
        <p:txBody>
          <a:bodyPr wrap="square">
            <a:spAutoFit/>
          </a:bodyPr>
          <a:lstStyle/>
          <a:p>
            <a:pPr algn="ctr">
              <a:lnSpc>
                <a:spcPts val="1690"/>
              </a:lnSpc>
              <a:spcAft>
                <a:spcPts val="0"/>
              </a:spcAft>
              <a:defRPr sz="1300" b="0" i="0">
                <a:solidFill>
                  <a:srgbClr val="9CA3AF"/>
                </a:solidFill>
                <a:latin typeface="Calibri"/>
              </a:defRPr>
            </a:pPr>
            <a:r>
              <a:rPr dirty="0"/>
              <a:t>Department of Computer Science and Engineering  •  Compiler Construction Lab</a:t>
            </a:r>
          </a:p>
        </p:txBody>
      </p:sp>
      <p:sp>
        <p:nvSpPr>
          <p:cNvPr id="6" name="TextBox 5"/>
          <p:cNvSpPr txBox="1"/>
          <p:nvPr/>
        </p:nvSpPr>
        <p:spPr>
          <a:xfrm>
            <a:off x="1371600" y="1554480"/>
            <a:ext cx="9448495" cy="914400"/>
          </a:xfrm>
          <a:prstGeom prst="rect">
            <a:avLst/>
          </a:prstGeom>
          <a:noFill/>
        </p:spPr>
        <p:txBody>
          <a:bodyPr wrap="square">
            <a:spAutoFit/>
          </a:bodyPr>
          <a:lstStyle/>
          <a:p>
            <a:pPr algn="ctr">
              <a:lnSpc>
                <a:spcPts val="5460"/>
              </a:lnSpc>
              <a:spcAft>
                <a:spcPts val="0"/>
              </a:spcAft>
              <a:defRPr sz="4200" b="1" i="0">
                <a:solidFill>
                  <a:srgbClr val="FFFFFF"/>
                </a:solidFill>
                <a:latin typeface="Calibri"/>
              </a:defRPr>
            </a:pPr>
            <a:r>
              <a:t>Mini Programming Language Compiler</a:t>
            </a:r>
          </a:p>
        </p:txBody>
      </p:sp>
      <p:sp>
        <p:nvSpPr>
          <p:cNvPr id="7" name="TextBox 6"/>
          <p:cNvSpPr txBox="1"/>
          <p:nvPr/>
        </p:nvSpPr>
        <p:spPr>
          <a:xfrm>
            <a:off x="1828800" y="2468880"/>
            <a:ext cx="8534095" cy="548640"/>
          </a:xfrm>
          <a:prstGeom prst="rect">
            <a:avLst/>
          </a:prstGeom>
          <a:noFill/>
        </p:spPr>
        <p:txBody>
          <a:bodyPr wrap="square">
            <a:spAutoFit/>
          </a:bodyPr>
          <a:lstStyle/>
          <a:p>
            <a:pPr algn="ctr">
              <a:lnSpc>
                <a:spcPts val="2600"/>
              </a:lnSpc>
              <a:spcAft>
                <a:spcPts val="0"/>
              </a:spcAft>
              <a:defRPr sz="2000" b="0" i="0">
                <a:solidFill>
                  <a:srgbClr val="D6E8F7"/>
                </a:solidFill>
                <a:latin typeface="Calibri"/>
              </a:defRPr>
            </a:pPr>
            <a:r>
              <a:t>Design and Implementation of a Front-End Compiler using Flex, Bison &amp; C</a:t>
            </a:r>
          </a:p>
        </p:txBody>
      </p:sp>
      <p:sp>
        <p:nvSpPr>
          <p:cNvPr id="8" name="Rectangle 7"/>
          <p:cNvSpPr/>
          <p:nvPr/>
        </p:nvSpPr>
        <p:spPr>
          <a:xfrm>
            <a:off x="5029200" y="3200400"/>
            <a:ext cx="2133295" cy="254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4206240"/>
            <a:ext cx="12191695" cy="457200"/>
          </a:xfrm>
          <a:prstGeom prst="rect">
            <a:avLst/>
          </a:prstGeom>
          <a:noFill/>
        </p:spPr>
        <p:txBody>
          <a:bodyPr wrap="square">
            <a:spAutoFit/>
          </a:bodyPr>
          <a:lstStyle/>
          <a:p>
            <a:pPr algn="ctr">
              <a:lnSpc>
                <a:spcPts val="3120"/>
              </a:lnSpc>
              <a:spcAft>
                <a:spcPts val="0"/>
              </a:spcAft>
              <a:defRPr sz="2400" b="1" i="0">
                <a:solidFill>
                  <a:srgbClr val="1B2A4A"/>
                </a:solidFill>
                <a:latin typeface="Calibri"/>
              </a:defRPr>
            </a:pPr>
            <a:r>
              <a:t>Team 13  —  Razibit and The Tokenizers</a:t>
            </a:r>
          </a:p>
        </p:txBody>
      </p:sp>
      <p:sp>
        <p:nvSpPr>
          <p:cNvPr id="10" name="Rounded Rectangle 9"/>
          <p:cNvSpPr/>
          <p:nvPr/>
        </p:nvSpPr>
        <p:spPr>
          <a:xfrm>
            <a:off x="2926080" y="4846320"/>
            <a:ext cx="2926080" cy="118872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4937760"/>
            <a:ext cx="2560320" cy="365760"/>
          </a:xfrm>
          <a:prstGeom prst="rect">
            <a:avLst/>
          </a:prstGeom>
          <a:noFill/>
        </p:spPr>
        <p:txBody>
          <a:bodyPr wrap="square">
            <a:spAutoFit/>
          </a:bodyPr>
          <a:lstStyle/>
          <a:p>
            <a:pPr algn="ctr">
              <a:lnSpc>
                <a:spcPts val="2210"/>
              </a:lnSpc>
              <a:spcAft>
                <a:spcPts val="0"/>
              </a:spcAft>
              <a:defRPr sz="1700" b="1" i="0">
                <a:solidFill>
                  <a:srgbClr val="1B2A4A"/>
                </a:solidFill>
                <a:latin typeface="Calibri"/>
              </a:defRPr>
            </a:pPr>
            <a:r>
              <a:t>Rajib Dab</a:t>
            </a:r>
          </a:p>
        </p:txBody>
      </p:sp>
      <p:sp>
        <p:nvSpPr>
          <p:cNvPr id="12" name="TextBox 11"/>
          <p:cNvSpPr txBox="1"/>
          <p:nvPr/>
        </p:nvSpPr>
        <p:spPr>
          <a:xfrm>
            <a:off x="3108960" y="5303520"/>
            <a:ext cx="2560320" cy="320040"/>
          </a:xfrm>
          <a:prstGeom prst="rect">
            <a:avLst/>
          </a:prstGeom>
          <a:noFill/>
        </p:spPr>
        <p:txBody>
          <a:bodyPr wrap="square">
            <a:spAutoFit/>
          </a:bodyPr>
          <a:lstStyle/>
          <a:p>
            <a:pPr algn="ctr">
              <a:lnSpc>
                <a:spcPts val="1690"/>
              </a:lnSpc>
              <a:spcAft>
                <a:spcPts val="0"/>
              </a:spcAft>
              <a:defRPr sz="1300" b="0" i="0">
                <a:solidFill>
                  <a:srgbClr val="6B7280"/>
                </a:solidFill>
                <a:latin typeface="Calibri"/>
              </a:defRPr>
            </a:pPr>
            <a:r>
              <a:t>ID: 231-115-103</a:t>
            </a:r>
          </a:p>
        </p:txBody>
      </p:sp>
      <p:sp>
        <p:nvSpPr>
          <p:cNvPr id="14" name="Rounded Rectangle 13"/>
          <p:cNvSpPr/>
          <p:nvPr/>
        </p:nvSpPr>
        <p:spPr>
          <a:xfrm>
            <a:off x="6339535" y="4846320"/>
            <a:ext cx="2926080" cy="118872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2415" y="4937760"/>
            <a:ext cx="2560320" cy="365760"/>
          </a:xfrm>
          <a:prstGeom prst="rect">
            <a:avLst/>
          </a:prstGeom>
          <a:noFill/>
        </p:spPr>
        <p:txBody>
          <a:bodyPr wrap="square">
            <a:spAutoFit/>
          </a:bodyPr>
          <a:lstStyle/>
          <a:p>
            <a:pPr algn="ctr">
              <a:lnSpc>
                <a:spcPts val="2210"/>
              </a:lnSpc>
              <a:spcAft>
                <a:spcPts val="0"/>
              </a:spcAft>
              <a:defRPr sz="1700" b="1" i="0">
                <a:solidFill>
                  <a:srgbClr val="1B2A4A"/>
                </a:solidFill>
                <a:latin typeface="Calibri"/>
              </a:defRPr>
            </a:pPr>
            <a:r>
              <a:t>Md Monsur Alam</a:t>
            </a:r>
          </a:p>
        </p:txBody>
      </p:sp>
      <p:sp>
        <p:nvSpPr>
          <p:cNvPr id="16" name="TextBox 15"/>
          <p:cNvSpPr txBox="1"/>
          <p:nvPr/>
        </p:nvSpPr>
        <p:spPr>
          <a:xfrm>
            <a:off x="6522415" y="5303520"/>
            <a:ext cx="2560320" cy="320040"/>
          </a:xfrm>
          <a:prstGeom prst="rect">
            <a:avLst/>
          </a:prstGeom>
          <a:noFill/>
        </p:spPr>
        <p:txBody>
          <a:bodyPr wrap="square">
            <a:spAutoFit/>
          </a:bodyPr>
          <a:lstStyle/>
          <a:p>
            <a:pPr algn="ctr">
              <a:lnSpc>
                <a:spcPts val="1690"/>
              </a:lnSpc>
              <a:spcAft>
                <a:spcPts val="0"/>
              </a:spcAft>
              <a:defRPr sz="1300" b="0" i="0">
                <a:solidFill>
                  <a:srgbClr val="6B7280"/>
                </a:solidFill>
                <a:latin typeface="Calibri"/>
              </a:defRPr>
            </a:pPr>
            <a:r>
              <a:t>ID: 231-115-104</a:t>
            </a:r>
          </a:p>
        </p:txBody>
      </p:sp>
      <p:sp>
        <p:nvSpPr>
          <p:cNvPr id="18" name="TextBox 17"/>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1 /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Project Objectives</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2 / 11</a:t>
            </a:r>
          </a:p>
        </p:txBody>
      </p:sp>
      <p:sp>
        <p:nvSpPr>
          <p:cNvPr id="7" name="Oval 6"/>
          <p:cNvSpPr/>
          <p:nvPr/>
        </p:nvSpPr>
        <p:spPr>
          <a:xfrm>
            <a:off x="914400" y="1417320"/>
            <a:ext cx="502920" cy="502920"/>
          </a:xfrm>
          <a:prstGeom prst="ellipse">
            <a:avLst/>
          </a:prstGeom>
          <a:solidFill>
            <a:srgbClr val="2E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8" name="TextBox 7"/>
          <p:cNvSpPr txBox="1"/>
          <p:nvPr/>
        </p:nvSpPr>
        <p:spPr>
          <a:xfrm>
            <a:off x="1645920" y="1417320"/>
            <a:ext cx="1463040" cy="457200"/>
          </a:xfrm>
          <a:prstGeom prst="rect">
            <a:avLst/>
          </a:prstGeom>
          <a:noFill/>
        </p:spPr>
        <p:txBody>
          <a:bodyPr wrap="square">
            <a:spAutoFit/>
          </a:bodyPr>
          <a:lstStyle/>
          <a:p>
            <a:pPr algn="l">
              <a:lnSpc>
                <a:spcPts val="2600"/>
              </a:lnSpc>
              <a:spcAft>
                <a:spcPts val="0"/>
              </a:spcAft>
              <a:defRPr sz="2000" b="1" i="0">
                <a:solidFill>
                  <a:srgbClr val="2E5EAA"/>
                </a:solidFill>
                <a:latin typeface="Calibri"/>
              </a:defRPr>
            </a:pPr>
            <a:r>
              <a:t>Recognize</a:t>
            </a:r>
          </a:p>
        </p:txBody>
      </p:sp>
      <p:sp>
        <p:nvSpPr>
          <p:cNvPr id="9" name="TextBox 8"/>
          <p:cNvSpPr txBox="1"/>
          <p:nvPr/>
        </p:nvSpPr>
        <p:spPr>
          <a:xfrm>
            <a:off x="3108960" y="1444752"/>
            <a:ext cx="7772400" cy="457200"/>
          </a:xfrm>
          <a:prstGeom prst="rect">
            <a:avLst/>
          </a:prstGeom>
          <a:noFill/>
        </p:spPr>
        <p:txBody>
          <a:bodyPr wrap="square">
            <a:spAutoFit/>
          </a:bodyPr>
          <a:lstStyle/>
          <a:p>
            <a:pPr algn="l">
              <a:lnSpc>
                <a:spcPts val="2080"/>
              </a:lnSpc>
              <a:spcAft>
                <a:spcPts val="0"/>
              </a:spcAft>
              <a:defRPr sz="1600" b="0" i="0">
                <a:solidFill>
                  <a:srgbClr val="374151"/>
                </a:solidFill>
                <a:latin typeface="Calibri"/>
              </a:defRPr>
            </a:pPr>
            <a:r>
              <a:t>Build a Lexical Analyzer using Flex to scan source code and produce a categorized token stream.</a:t>
            </a:r>
          </a:p>
        </p:txBody>
      </p:sp>
      <p:sp>
        <p:nvSpPr>
          <p:cNvPr id="10" name="Oval 9"/>
          <p:cNvSpPr/>
          <p:nvPr/>
        </p:nvSpPr>
        <p:spPr>
          <a:xfrm>
            <a:off x="914400" y="2377440"/>
            <a:ext cx="502920" cy="502920"/>
          </a:xfrm>
          <a:prstGeom prst="ellipse">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1" name="TextBox 10"/>
          <p:cNvSpPr txBox="1"/>
          <p:nvPr/>
        </p:nvSpPr>
        <p:spPr>
          <a:xfrm>
            <a:off x="1645920" y="2377440"/>
            <a:ext cx="1463040" cy="457200"/>
          </a:xfrm>
          <a:prstGeom prst="rect">
            <a:avLst/>
          </a:prstGeom>
          <a:noFill/>
        </p:spPr>
        <p:txBody>
          <a:bodyPr wrap="square">
            <a:spAutoFit/>
          </a:bodyPr>
          <a:lstStyle/>
          <a:p>
            <a:pPr algn="l">
              <a:lnSpc>
                <a:spcPts val="2600"/>
              </a:lnSpc>
              <a:spcAft>
                <a:spcPts val="0"/>
              </a:spcAft>
              <a:defRPr sz="2000" b="1" i="0">
                <a:solidFill>
                  <a:srgbClr val="3A86D0"/>
                </a:solidFill>
                <a:latin typeface="Calibri"/>
              </a:defRPr>
            </a:pPr>
            <a:r>
              <a:rPr dirty="0"/>
              <a:t>Parse</a:t>
            </a:r>
          </a:p>
        </p:txBody>
      </p:sp>
      <p:sp>
        <p:nvSpPr>
          <p:cNvPr id="12" name="TextBox 11"/>
          <p:cNvSpPr txBox="1"/>
          <p:nvPr/>
        </p:nvSpPr>
        <p:spPr>
          <a:xfrm>
            <a:off x="3108960" y="2404872"/>
            <a:ext cx="7772400" cy="457200"/>
          </a:xfrm>
          <a:prstGeom prst="rect">
            <a:avLst/>
          </a:prstGeom>
          <a:noFill/>
        </p:spPr>
        <p:txBody>
          <a:bodyPr wrap="square">
            <a:spAutoFit/>
          </a:bodyPr>
          <a:lstStyle/>
          <a:p>
            <a:pPr algn="l">
              <a:lnSpc>
                <a:spcPts val="2080"/>
              </a:lnSpc>
              <a:spcAft>
                <a:spcPts val="0"/>
              </a:spcAft>
              <a:defRPr sz="1600" b="0" i="0">
                <a:solidFill>
                  <a:srgbClr val="374151"/>
                </a:solidFill>
                <a:latin typeface="Calibri"/>
              </a:defRPr>
            </a:pPr>
            <a:r>
              <a:t>Implement a Syntax Analyzer using Bison with LALR(1) grammar to validate program structure.</a:t>
            </a:r>
          </a:p>
        </p:txBody>
      </p:sp>
      <p:sp>
        <p:nvSpPr>
          <p:cNvPr id="13" name="Oval 12"/>
          <p:cNvSpPr/>
          <p:nvPr/>
        </p:nvSpPr>
        <p:spPr>
          <a:xfrm>
            <a:off x="914400" y="3337560"/>
            <a:ext cx="502920" cy="50292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4" name="TextBox 13"/>
          <p:cNvSpPr txBox="1"/>
          <p:nvPr/>
        </p:nvSpPr>
        <p:spPr>
          <a:xfrm>
            <a:off x="1645920" y="3337560"/>
            <a:ext cx="1463040" cy="457200"/>
          </a:xfrm>
          <a:prstGeom prst="rect">
            <a:avLst/>
          </a:prstGeom>
          <a:noFill/>
        </p:spPr>
        <p:txBody>
          <a:bodyPr wrap="square">
            <a:spAutoFit/>
          </a:bodyPr>
          <a:lstStyle/>
          <a:p>
            <a:pPr algn="l">
              <a:lnSpc>
                <a:spcPts val="2600"/>
              </a:lnSpc>
              <a:spcAft>
                <a:spcPts val="0"/>
              </a:spcAft>
              <a:defRPr sz="2000" b="1" i="0">
                <a:solidFill>
                  <a:srgbClr val="14B8A6"/>
                </a:solidFill>
                <a:latin typeface="Calibri"/>
              </a:defRPr>
            </a:pPr>
            <a:r>
              <a:t>Represent</a:t>
            </a:r>
          </a:p>
        </p:txBody>
      </p:sp>
      <p:sp>
        <p:nvSpPr>
          <p:cNvPr id="15" name="TextBox 14"/>
          <p:cNvSpPr txBox="1"/>
          <p:nvPr/>
        </p:nvSpPr>
        <p:spPr>
          <a:xfrm>
            <a:off x="3108960" y="3364992"/>
            <a:ext cx="7772400" cy="457200"/>
          </a:xfrm>
          <a:prstGeom prst="rect">
            <a:avLst/>
          </a:prstGeom>
          <a:noFill/>
        </p:spPr>
        <p:txBody>
          <a:bodyPr wrap="square">
            <a:spAutoFit/>
          </a:bodyPr>
          <a:lstStyle/>
          <a:p>
            <a:pPr algn="l">
              <a:lnSpc>
                <a:spcPts val="2080"/>
              </a:lnSpc>
              <a:spcAft>
                <a:spcPts val="0"/>
              </a:spcAft>
              <a:defRPr sz="1600" b="0" i="0">
                <a:solidFill>
                  <a:srgbClr val="374151"/>
                </a:solidFill>
                <a:latin typeface="Calibri"/>
              </a:defRPr>
            </a:pPr>
            <a:r>
              <a:t>Construct an Abstract Syntax Tree (AST) that captures the hierarchical meaning of the source program.</a:t>
            </a:r>
          </a:p>
        </p:txBody>
      </p:sp>
      <p:sp>
        <p:nvSpPr>
          <p:cNvPr id="16" name="Oval 15"/>
          <p:cNvSpPr/>
          <p:nvPr/>
        </p:nvSpPr>
        <p:spPr>
          <a:xfrm>
            <a:off x="914400" y="4297680"/>
            <a:ext cx="502920" cy="502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7" name="TextBox 16"/>
          <p:cNvSpPr txBox="1"/>
          <p:nvPr/>
        </p:nvSpPr>
        <p:spPr>
          <a:xfrm>
            <a:off x="1645920" y="4297680"/>
            <a:ext cx="1463040" cy="457200"/>
          </a:xfrm>
          <a:prstGeom prst="rect">
            <a:avLst/>
          </a:prstGeom>
          <a:noFill/>
        </p:spPr>
        <p:txBody>
          <a:bodyPr wrap="square">
            <a:spAutoFit/>
          </a:bodyPr>
          <a:lstStyle/>
          <a:p>
            <a:pPr algn="l">
              <a:lnSpc>
                <a:spcPts val="2600"/>
              </a:lnSpc>
              <a:spcAft>
                <a:spcPts val="0"/>
              </a:spcAft>
              <a:defRPr sz="2000" b="1" i="0">
                <a:solidFill>
                  <a:srgbClr val="8B5CF6"/>
                </a:solidFill>
                <a:latin typeface="Calibri"/>
              </a:defRPr>
            </a:pPr>
            <a:r>
              <a:t>Validate</a:t>
            </a:r>
          </a:p>
        </p:txBody>
      </p:sp>
      <p:sp>
        <p:nvSpPr>
          <p:cNvPr id="18" name="TextBox 17"/>
          <p:cNvSpPr txBox="1"/>
          <p:nvPr/>
        </p:nvSpPr>
        <p:spPr>
          <a:xfrm>
            <a:off x="3108960" y="4325112"/>
            <a:ext cx="7772400" cy="457200"/>
          </a:xfrm>
          <a:prstGeom prst="rect">
            <a:avLst/>
          </a:prstGeom>
          <a:noFill/>
        </p:spPr>
        <p:txBody>
          <a:bodyPr wrap="square">
            <a:spAutoFit/>
          </a:bodyPr>
          <a:lstStyle/>
          <a:p>
            <a:pPr algn="l">
              <a:lnSpc>
                <a:spcPts val="2080"/>
              </a:lnSpc>
              <a:spcAft>
                <a:spcPts val="0"/>
              </a:spcAft>
              <a:defRPr sz="1600" b="0" i="0">
                <a:solidFill>
                  <a:srgbClr val="374151"/>
                </a:solidFill>
                <a:latin typeface="Calibri"/>
              </a:defRPr>
            </a:pPr>
            <a:r>
              <a:t>Perform Semantic Analysis with type checking, scope validation, and declaration verification.</a:t>
            </a:r>
          </a:p>
        </p:txBody>
      </p:sp>
      <p:sp>
        <p:nvSpPr>
          <p:cNvPr id="19" name="Oval 18"/>
          <p:cNvSpPr/>
          <p:nvPr/>
        </p:nvSpPr>
        <p:spPr>
          <a:xfrm>
            <a:off x="914400" y="5257800"/>
            <a:ext cx="502920" cy="5029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20" name="TextBox 19"/>
          <p:cNvSpPr txBox="1"/>
          <p:nvPr/>
        </p:nvSpPr>
        <p:spPr>
          <a:xfrm>
            <a:off x="1645920" y="5257800"/>
            <a:ext cx="1463040" cy="457200"/>
          </a:xfrm>
          <a:prstGeom prst="rect">
            <a:avLst/>
          </a:prstGeom>
          <a:noFill/>
        </p:spPr>
        <p:txBody>
          <a:bodyPr wrap="square">
            <a:spAutoFit/>
          </a:bodyPr>
          <a:lstStyle/>
          <a:p>
            <a:pPr algn="l">
              <a:lnSpc>
                <a:spcPts val="2600"/>
              </a:lnSpc>
              <a:spcAft>
                <a:spcPts val="0"/>
              </a:spcAft>
              <a:defRPr sz="2000" b="1" i="0">
                <a:solidFill>
                  <a:srgbClr val="F59E0B"/>
                </a:solidFill>
                <a:latin typeface="Calibri"/>
              </a:defRPr>
            </a:pPr>
            <a:r>
              <a:t>Generate</a:t>
            </a:r>
          </a:p>
        </p:txBody>
      </p:sp>
      <p:sp>
        <p:nvSpPr>
          <p:cNvPr id="21" name="TextBox 20"/>
          <p:cNvSpPr txBox="1"/>
          <p:nvPr/>
        </p:nvSpPr>
        <p:spPr>
          <a:xfrm>
            <a:off x="3108960" y="5285232"/>
            <a:ext cx="7772400" cy="457200"/>
          </a:xfrm>
          <a:prstGeom prst="rect">
            <a:avLst/>
          </a:prstGeom>
          <a:noFill/>
        </p:spPr>
        <p:txBody>
          <a:bodyPr wrap="square">
            <a:spAutoFit/>
          </a:bodyPr>
          <a:lstStyle/>
          <a:p>
            <a:pPr algn="l">
              <a:lnSpc>
                <a:spcPts val="2080"/>
              </a:lnSpc>
              <a:spcAft>
                <a:spcPts val="0"/>
              </a:spcAft>
              <a:defRPr sz="1600" b="0" i="0">
                <a:solidFill>
                  <a:srgbClr val="374151"/>
                </a:solidFill>
                <a:latin typeface="Calibri"/>
              </a:defRPr>
            </a:pPr>
            <a:r>
              <a:t>Produce Three-Address Code (TAC) as linear intermediate representation with temporaries and labels.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Mini Language Specification</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3 / 11</a:t>
            </a:r>
          </a:p>
        </p:txBody>
      </p:sp>
      <p:sp>
        <p:nvSpPr>
          <p:cNvPr id="7" name="TextBox 6"/>
          <p:cNvSpPr txBox="1"/>
          <p:nvPr/>
        </p:nvSpPr>
        <p:spPr>
          <a:xfrm>
            <a:off x="640080" y="1371600"/>
            <a:ext cx="5029200" cy="4754880"/>
          </a:xfrm>
          <a:prstGeom prst="rect">
            <a:avLst/>
          </a:prstGeom>
          <a:noFill/>
        </p:spPr>
        <p:txBody>
          <a:bodyPr wrap="square">
            <a:spAutoFit/>
          </a:bodyPr>
          <a:lstStyle/>
          <a:p>
            <a:pPr algn="l">
              <a:spcBef>
                <a:spcPts val="0"/>
              </a:spcBef>
              <a:spcAft>
                <a:spcPts val="400"/>
              </a:spcAft>
              <a:defRPr sz="1800" b="1" i="0">
                <a:solidFill>
                  <a:srgbClr val="1B2A4A"/>
                </a:solidFill>
                <a:latin typeface="Calibri"/>
              </a:defRPr>
            </a:pPr>
            <a:r>
              <a:rPr dirty="0"/>
              <a:t>Data Types</a:t>
            </a:r>
          </a:p>
          <a:p>
            <a:pPr algn="l">
              <a:spcBef>
                <a:spcPts val="0"/>
              </a:spcBef>
              <a:spcAft>
                <a:spcPts val="1400"/>
              </a:spcAft>
              <a:defRPr sz="1500" b="0" i="0">
                <a:solidFill>
                  <a:srgbClr val="374151"/>
                </a:solidFill>
                <a:latin typeface="Calibri"/>
              </a:defRPr>
            </a:pPr>
            <a:r>
              <a:rPr dirty="0"/>
              <a:t>int   •   float   •   bool (true / false)</a:t>
            </a:r>
          </a:p>
          <a:p>
            <a:pPr algn="l">
              <a:spcBef>
                <a:spcPts val="800"/>
              </a:spcBef>
              <a:spcAft>
                <a:spcPts val="400"/>
              </a:spcAft>
              <a:defRPr sz="1800" b="1" i="0">
                <a:solidFill>
                  <a:srgbClr val="1B2A4A"/>
                </a:solidFill>
                <a:latin typeface="Calibri"/>
              </a:defRPr>
            </a:pPr>
            <a:r>
              <a:rPr dirty="0"/>
              <a:t>Operators</a:t>
            </a:r>
          </a:p>
          <a:p>
            <a:pPr algn="l">
              <a:spcBef>
                <a:spcPts val="0"/>
              </a:spcBef>
              <a:spcAft>
                <a:spcPts val="300"/>
              </a:spcAft>
              <a:defRPr sz="1500" b="0" i="0">
                <a:solidFill>
                  <a:srgbClr val="374151"/>
                </a:solidFill>
                <a:latin typeface="Calibri"/>
              </a:defRPr>
            </a:pPr>
            <a:r>
              <a:rPr dirty="0"/>
              <a:t>Arithmetic:     +   −   *   /   %</a:t>
            </a:r>
          </a:p>
          <a:p>
            <a:pPr algn="l">
              <a:spcBef>
                <a:spcPts val="0"/>
              </a:spcBef>
              <a:spcAft>
                <a:spcPts val="300"/>
              </a:spcAft>
              <a:defRPr sz="1500" b="0" i="0">
                <a:solidFill>
                  <a:srgbClr val="374151"/>
                </a:solidFill>
                <a:latin typeface="Calibri"/>
              </a:defRPr>
            </a:pPr>
            <a:r>
              <a:rPr dirty="0"/>
              <a:t>Relational:      &lt;   &gt;   &lt;=   &gt;=   ==   !=</a:t>
            </a:r>
          </a:p>
          <a:p>
            <a:pPr algn="l">
              <a:spcBef>
                <a:spcPts val="0"/>
              </a:spcBef>
              <a:spcAft>
                <a:spcPts val="1400"/>
              </a:spcAft>
              <a:defRPr sz="1500" b="0" i="0">
                <a:solidFill>
                  <a:srgbClr val="374151"/>
                </a:solidFill>
                <a:latin typeface="Calibri"/>
              </a:defRPr>
            </a:pPr>
            <a:r>
              <a:rPr dirty="0"/>
              <a:t>Logical:           &amp;&amp;   ||   !</a:t>
            </a:r>
          </a:p>
          <a:p>
            <a:pPr algn="l">
              <a:spcBef>
                <a:spcPts val="800"/>
              </a:spcBef>
              <a:spcAft>
                <a:spcPts val="400"/>
              </a:spcAft>
              <a:defRPr sz="1800" b="1" i="0">
                <a:solidFill>
                  <a:srgbClr val="1B2A4A"/>
                </a:solidFill>
                <a:latin typeface="Calibri"/>
              </a:defRPr>
            </a:pPr>
            <a:r>
              <a:rPr dirty="0"/>
              <a:t>Control Structures</a:t>
            </a:r>
          </a:p>
          <a:p>
            <a:pPr algn="l">
              <a:spcBef>
                <a:spcPts val="0"/>
              </a:spcBef>
              <a:spcAft>
                <a:spcPts val="300"/>
              </a:spcAft>
              <a:defRPr sz="1500" b="0" i="0">
                <a:solidFill>
                  <a:srgbClr val="374151"/>
                </a:solidFill>
                <a:latin typeface="Calibri"/>
              </a:defRPr>
            </a:pPr>
            <a:r>
              <a:rPr dirty="0"/>
              <a:t>if  /  if-else   •   while   •   print</a:t>
            </a:r>
          </a:p>
          <a:p>
            <a:pPr algn="l">
              <a:spcBef>
                <a:spcPts val="0"/>
              </a:spcBef>
              <a:spcAft>
                <a:spcPts val="1400"/>
              </a:spcAft>
              <a:defRPr sz="1500" b="0" i="0">
                <a:solidFill>
                  <a:srgbClr val="374151"/>
                </a:solidFill>
                <a:latin typeface="Calibri"/>
              </a:defRPr>
            </a:pPr>
            <a:r>
              <a:rPr dirty="0"/>
              <a:t>Block scoping with  { ... }</a:t>
            </a:r>
          </a:p>
          <a:p>
            <a:pPr algn="l">
              <a:spcBef>
                <a:spcPts val="800"/>
              </a:spcBef>
              <a:spcAft>
                <a:spcPts val="400"/>
              </a:spcAft>
              <a:defRPr sz="1800" b="1" i="0">
                <a:solidFill>
                  <a:srgbClr val="1B2A4A"/>
                </a:solidFill>
                <a:latin typeface="Calibri"/>
              </a:defRPr>
            </a:pPr>
            <a:r>
              <a:rPr dirty="0"/>
              <a:t>Other Features</a:t>
            </a:r>
          </a:p>
          <a:p>
            <a:pPr algn="l">
              <a:spcBef>
                <a:spcPts val="0"/>
              </a:spcBef>
              <a:spcAft>
                <a:spcPts val="300"/>
              </a:spcAft>
              <a:defRPr sz="1500" b="0" i="0">
                <a:solidFill>
                  <a:srgbClr val="374151"/>
                </a:solidFill>
                <a:latin typeface="Calibri"/>
              </a:defRPr>
            </a:pPr>
            <a:r>
              <a:rPr dirty="0"/>
              <a:t>Single-line comments ( // )  and  block comments ( /* */ )</a:t>
            </a:r>
          </a:p>
          <a:p>
            <a:pPr algn="l">
              <a:spcBef>
                <a:spcPts val="0"/>
              </a:spcBef>
              <a:spcAft>
                <a:spcPts val="300"/>
              </a:spcAft>
              <a:defRPr sz="1500" b="0" i="0">
                <a:solidFill>
                  <a:srgbClr val="374151"/>
                </a:solidFill>
                <a:latin typeface="Calibri"/>
              </a:defRPr>
            </a:pPr>
            <a:r>
              <a:rPr dirty="0"/>
              <a:t>Variable declarations and assignments</a:t>
            </a:r>
          </a:p>
          <a:p>
            <a:pPr algn="l">
              <a:spcBef>
                <a:spcPts val="0"/>
              </a:spcBef>
              <a:spcAft>
                <a:spcPts val="300"/>
              </a:spcAft>
              <a:defRPr sz="1500" b="0" i="0">
                <a:solidFill>
                  <a:srgbClr val="374151"/>
                </a:solidFill>
                <a:latin typeface="Calibri"/>
              </a:defRPr>
            </a:pPr>
            <a:r>
              <a:rPr dirty="0"/>
              <a:t>Nested scopes with variable shadowing</a:t>
            </a:r>
          </a:p>
        </p:txBody>
      </p:sp>
      <p:sp>
        <p:nvSpPr>
          <p:cNvPr id="8" name="Rounded Rectangle 7"/>
          <p:cNvSpPr/>
          <p:nvPr/>
        </p:nvSpPr>
        <p:spPr>
          <a:xfrm>
            <a:off x="6126480" y="1371600"/>
            <a:ext cx="5303520" cy="475488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1424593"/>
            <a:ext cx="2743200" cy="320040"/>
          </a:xfrm>
          <a:prstGeom prst="rect">
            <a:avLst/>
          </a:prstGeom>
          <a:noFill/>
        </p:spPr>
        <p:txBody>
          <a:bodyPr wrap="square">
            <a:spAutoFit/>
          </a:bodyPr>
          <a:lstStyle/>
          <a:p>
            <a:pPr algn="l">
              <a:lnSpc>
                <a:spcPts val="1690"/>
              </a:lnSpc>
              <a:spcAft>
                <a:spcPts val="0"/>
              </a:spcAft>
              <a:defRPr sz="1300" b="1" i="0">
                <a:solidFill>
                  <a:srgbClr val="6B7280"/>
                </a:solidFill>
                <a:latin typeface="Calibri"/>
              </a:defRPr>
            </a:pPr>
            <a:r>
              <a:rPr dirty="0"/>
              <a:t>  sample.mc</a:t>
            </a:r>
          </a:p>
        </p:txBody>
      </p:sp>
      <p:sp>
        <p:nvSpPr>
          <p:cNvPr id="10" name="TextBox 9"/>
          <p:cNvSpPr txBox="1"/>
          <p:nvPr/>
        </p:nvSpPr>
        <p:spPr>
          <a:xfrm>
            <a:off x="7531509" y="1719233"/>
            <a:ext cx="4521855" cy="4401205"/>
          </a:xfrm>
          <a:prstGeom prst="rect">
            <a:avLst/>
          </a:prstGeom>
          <a:noFill/>
        </p:spPr>
        <p:txBody>
          <a:bodyPr wrap="square">
            <a:spAutoFit/>
          </a:bodyPr>
          <a:lstStyle/>
          <a:p>
            <a:pPr algn="l">
              <a:lnSpc>
                <a:spcPts val="1380"/>
              </a:lnSpc>
              <a:spcAft>
                <a:spcPts val="0"/>
              </a:spcAft>
              <a:defRPr sz="1200" b="0" i="0">
                <a:solidFill>
                  <a:srgbClr val="374151"/>
                </a:solidFill>
                <a:latin typeface="Consolas"/>
              </a:defRPr>
            </a:pPr>
            <a:r>
              <a:rPr dirty="0"/>
              <a:t>/* Variable Declarations */</a:t>
            </a:r>
            <a:br>
              <a:rPr dirty="0"/>
            </a:br>
            <a:r>
              <a:rPr dirty="0"/>
              <a:t>int x;</a:t>
            </a:r>
            <a:br>
              <a:rPr dirty="0"/>
            </a:br>
            <a:r>
              <a:rPr dirty="0"/>
              <a:t>int y;</a:t>
            </a:r>
            <a:br>
              <a:rPr dirty="0"/>
            </a:br>
            <a:r>
              <a:rPr dirty="0"/>
              <a:t>bool flag;</a:t>
            </a:r>
            <a:br>
              <a:rPr dirty="0"/>
            </a:br>
            <a:r>
              <a:rPr dirty="0"/>
              <a:t>float rate;</a:t>
            </a:r>
            <a:br>
              <a:rPr dirty="0"/>
            </a:br>
            <a:br>
              <a:rPr dirty="0"/>
            </a:br>
            <a:r>
              <a:rPr dirty="0"/>
              <a:t>/* Assignments */</a:t>
            </a:r>
            <a:br>
              <a:rPr dirty="0"/>
            </a:br>
            <a:r>
              <a:rPr dirty="0"/>
              <a:t>x = 10;</a:t>
            </a:r>
            <a:br>
              <a:rPr dirty="0"/>
            </a:br>
            <a:r>
              <a:rPr dirty="0"/>
              <a:t>y = 0;</a:t>
            </a:r>
            <a:br>
              <a:rPr dirty="0"/>
            </a:br>
            <a:r>
              <a:rPr dirty="0"/>
              <a:t>flag = true;</a:t>
            </a:r>
            <a:br>
              <a:rPr dirty="0"/>
            </a:br>
            <a:r>
              <a:rPr dirty="0"/>
              <a:t>rate = 3.14;</a:t>
            </a:r>
            <a:br>
              <a:rPr dirty="0"/>
            </a:br>
            <a:br>
              <a:rPr dirty="0"/>
            </a:br>
            <a:r>
              <a:rPr dirty="0"/>
              <a:t>/* While loop */</a:t>
            </a:r>
            <a:br>
              <a:rPr dirty="0"/>
            </a:br>
            <a:r>
              <a:rPr dirty="0"/>
              <a:t>while (x &gt; 0) {</a:t>
            </a:r>
            <a:br>
              <a:rPr dirty="0"/>
            </a:br>
            <a:r>
              <a:rPr dirty="0"/>
              <a:t>    y = y + x;</a:t>
            </a:r>
            <a:br>
              <a:rPr dirty="0"/>
            </a:br>
            <a:r>
              <a:rPr dirty="0"/>
              <a:t>    x = x - 1;</a:t>
            </a:r>
            <a:br>
              <a:rPr dirty="0"/>
            </a:br>
            <a:r>
              <a:rPr dirty="0"/>
              <a:t>}</a:t>
            </a:r>
            <a:br>
              <a:rPr dirty="0"/>
            </a:br>
            <a:br>
              <a:rPr dirty="0"/>
            </a:br>
            <a:r>
              <a:rPr dirty="0"/>
              <a:t>/* If-else */</a:t>
            </a:r>
            <a:br>
              <a:rPr dirty="0"/>
            </a:br>
            <a:r>
              <a:rPr dirty="0"/>
              <a:t>if (flag == true) {</a:t>
            </a:r>
            <a:br>
              <a:rPr dirty="0"/>
            </a:br>
            <a:r>
              <a:rPr dirty="0"/>
              <a:t>    print y;</a:t>
            </a:r>
            <a:br>
              <a:rPr dirty="0"/>
            </a:br>
            <a:r>
              <a:rPr dirty="0"/>
              <a:t>} else {</a:t>
            </a:r>
            <a:br>
              <a:rPr dirty="0"/>
            </a:br>
            <a:r>
              <a:rPr dirty="0"/>
              <a:t>    print x;</a:t>
            </a:r>
            <a:br>
              <a:rPr dirty="0"/>
            </a:b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Compiler Architecture — Pipeline Overview</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4 / 11</a:t>
            </a:r>
          </a:p>
        </p:txBody>
      </p:sp>
      <p:sp>
        <p:nvSpPr>
          <p:cNvPr id="7" name="Rounded Rectangle 6"/>
          <p:cNvSpPr/>
          <p:nvPr/>
        </p:nvSpPr>
        <p:spPr>
          <a:xfrm>
            <a:off x="137160" y="2103120"/>
            <a:ext cx="1417320" cy="640080"/>
          </a:xfrm>
          <a:prstGeom prst="round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Source</a:t>
            </a:r>
            <a:br/>
            <a:r>
              <a:t>Code (.mc)</a:t>
            </a:r>
          </a:p>
        </p:txBody>
      </p:sp>
      <p:sp>
        <p:nvSpPr>
          <p:cNvPr id="8" name="Right Arrow 7"/>
          <p:cNvSpPr/>
          <p:nvPr/>
        </p:nvSpPr>
        <p:spPr>
          <a:xfrm>
            <a:off x="1572768" y="2304288"/>
            <a:ext cx="237744" cy="237744"/>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965960" y="2103120"/>
            <a:ext cx="1417320" cy="640080"/>
          </a:xfrm>
          <a:prstGeom prst="roundRect">
            <a:avLst/>
          </a:prstGeom>
          <a:solidFill>
            <a:srgbClr val="2E5EA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Lexer</a:t>
            </a:r>
            <a:br/>
            <a:r>
              <a:t>(Flex)</a:t>
            </a:r>
          </a:p>
        </p:txBody>
      </p:sp>
      <p:sp>
        <p:nvSpPr>
          <p:cNvPr id="10" name="Right Arrow 9"/>
          <p:cNvSpPr/>
          <p:nvPr/>
        </p:nvSpPr>
        <p:spPr>
          <a:xfrm>
            <a:off x="3401568" y="2304288"/>
            <a:ext cx="237744" cy="237744"/>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94760" y="2103120"/>
            <a:ext cx="1417320" cy="640080"/>
          </a:xfrm>
          <a:prstGeom prst="round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Parser</a:t>
            </a:r>
            <a:br/>
            <a:r>
              <a:t>(Bison)</a:t>
            </a:r>
          </a:p>
        </p:txBody>
      </p:sp>
      <p:sp>
        <p:nvSpPr>
          <p:cNvPr id="12" name="Right Arrow 11"/>
          <p:cNvSpPr/>
          <p:nvPr/>
        </p:nvSpPr>
        <p:spPr>
          <a:xfrm>
            <a:off x="5230368" y="2304288"/>
            <a:ext cx="237744" cy="237744"/>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23560" y="2103120"/>
            <a:ext cx="1417320" cy="6400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AST</a:t>
            </a:r>
            <a:br/>
            <a:r>
              <a:t>Builder</a:t>
            </a:r>
          </a:p>
        </p:txBody>
      </p:sp>
      <p:sp>
        <p:nvSpPr>
          <p:cNvPr id="14" name="Right Arrow 13"/>
          <p:cNvSpPr/>
          <p:nvPr/>
        </p:nvSpPr>
        <p:spPr>
          <a:xfrm>
            <a:off x="7059168" y="2304288"/>
            <a:ext cx="237744" cy="237744"/>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52360" y="2103120"/>
            <a:ext cx="1417320" cy="6400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Symbol</a:t>
            </a:r>
            <a:br/>
            <a:r>
              <a:t>Table</a:t>
            </a:r>
          </a:p>
        </p:txBody>
      </p:sp>
      <p:sp>
        <p:nvSpPr>
          <p:cNvPr id="16" name="Right Arrow 15"/>
          <p:cNvSpPr/>
          <p:nvPr/>
        </p:nvSpPr>
        <p:spPr>
          <a:xfrm>
            <a:off x="8887968" y="2304288"/>
            <a:ext cx="237744" cy="237744"/>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281160" y="2103120"/>
            <a:ext cx="1417320" cy="640080"/>
          </a:xfrm>
          <a:prstGeom prst="round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t>Semantic</a:t>
            </a:r>
            <a:br/>
            <a:r>
              <a:t>Analyzer</a:t>
            </a:r>
          </a:p>
        </p:txBody>
      </p:sp>
      <p:sp>
        <p:nvSpPr>
          <p:cNvPr id="18" name="Right Arrow 17"/>
          <p:cNvSpPr/>
          <p:nvPr/>
        </p:nvSpPr>
        <p:spPr>
          <a:xfrm>
            <a:off x="10789920" y="2289802"/>
            <a:ext cx="169182" cy="237744"/>
          </a:xfrm>
          <a:prstGeom prst="rightArrow">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1046257" y="2098045"/>
            <a:ext cx="1008583" cy="6400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latin typeface="Calibri"/>
              </a:defRPr>
            </a:pPr>
            <a:r>
              <a:rPr dirty="0"/>
              <a:t>TAC</a:t>
            </a:r>
            <a:br>
              <a:rPr dirty="0"/>
            </a:br>
            <a:r>
              <a:rPr dirty="0"/>
              <a:t>Generator</a:t>
            </a:r>
          </a:p>
        </p:txBody>
      </p:sp>
      <p:sp>
        <p:nvSpPr>
          <p:cNvPr id="20" name="TextBox 19"/>
          <p:cNvSpPr txBox="1"/>
          <p:nvPr/>
        </p:nvSpPr>
        <p:spPr>
          <a:xfrm>
            <a:off x="137160" y="2816352"/>
            <a:ext cx="1417320" cy="365760"/>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.mc file</a:t>
            </a:r>
          </a:p>
        </p:txBody>
      </p:sp>
      <p:sp>
        <p:nvSpPr>
          <p:cNvPr id="21" name="TextBox 20"/>
          <p:cNvSpPr txBox="1"/>
          <p:nvPr/>
        </p:nvSpPr>
        <p:spPr>
          <a:xfrm>
            <a:off x="1965960" y="2816352"/>
            <a:ext cx="1417320" cy="365760"/>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Token Stream</a:t>
            </a:r>
          </a:p>
        </p:txBody>
      </p:sp>
      <p:sp>
        <p:nvSpPr>
          <p:cNvPr id="22" name="TextBox 21"/>
          <p:cNvSpPr txBox="1"/>
          <p:nvPr/>
        </p:nvSpPr>
        <p:spPr>
          <a:xfrm>
            <a:off x="3794760" y="2816352"/>
            <a:ext cx="1417320" cy="365760"/>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Parse Tree</a:t>
            </a:r>
          </a:p>
        </p:txBody>
      </p:sp>
      <p:sp>
        <p:nvSpPr>
          <p:cNvPr id="23" name="TextBox 22"/>
          <p:cNvSpPr txBox="1"/>
          <p:nvPr/>
        </p:nvSpPr>
        <p:spPr>
          <a:xfrm>
            <a:off x="5623560" y="2816352"/>
            <a:ext cx="1417320" cy="365760"/>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AST Nodes</a:t>
            </a:r>
          </a:p>
        </p:txBody>
      </p:sp>
      <p:sp>
        <p:nvSpPr>
          <p:cNvPr id="24" name="TextBox 23"/>
          <p:cNvSpPr txBox="1"/>
          <p:nvPr/>
        </p:nvSpPr>
        <p:spPr>
          <a:xfrm>
            <a:off x="7452360" y="2816352"/>
            <a:ext cx="1417320" cy="365760"/>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Scope Stack</a:t>
            </a:r>
          </a:p>
        </p:txBody>
      </p:sp>
      <p:sp>
        <p:nvSpPr>
          <p:cNvPr id="25" name="TextBox 24"/>
          <p:cNvSpPr txBox="1"/>
          <p:nvPr/>
        </p:nvSpPr>
        <p:spPr>
          <a:xfrm>
            <a:off x="9281160" y="2816352"/>
            <a:ext cx="1417320" cy="365760"/>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Type Checks</a:t>
            </a:r>
          </a:p>
        </p:txBody>
      </p:sp>
      <p:sp>
        <p:nvSpPr>
          <p:cNvPr id="26" name="TextBox 25"/>
          <p:cNvSpPr txBox="1"/>
          <p:nvPr/>
        </p:nvSpPr>
        <p:spPr>
          <a:xfrm>
            <a:off x="11183112" y="2801866"/>
            <a:ext cx="1008583" cy="251223"/>
          </a:xfrm>
          <a:prstGeom prst="rect">
            <a:avLst/>
          </a:prstGeom>
          <a:noFill/>
        </p:spPr>
        <p:txBody>
          <a:bodyPr wrap="square">
            <a:spAutoFit/>
          </a:bodyPr>
          <a:lstStyle/>
          <a:p>
            <a:pPr algn="ctr">
              <a:lnSpc>
                <a:spcPts val="1300"/>
              </a:lnSpc>
              <a:spcAft>
                <a:spcPts val="0"/>
              </a:spcAft>
              <a:defRPr sz="1000" b="0" i="0">
                <a:solidFill>
                  <a:srgbClr val="6B7280"/>
                </a:solidFill>
                <a:latin typeface="Calibri"/>
              </a:defRPr>
            </a:pPr>
            <a:r>
              <a:t>TAC Code</a:t>
            </a:r>
          </a:p>
        </p:txBody>
      </p:sp>
      <p:sp>
        <p:nvSpPr>
          <p:cNvPr id="27" name="TextBox 26"/>
          <p:cNvSpPr txBox="1"/>
          <p:nvPr/>
        </p:nvSpPr>
        <p:spPr>
          <a:xfrm>
            <a:off x="640080" y="3474720"/>
            <a:ext cx="10972800" cy="365760"/>
          </a:xfrm>
          <a:prstGeom prst="rect">
            <a:avLst/>
          </a:prstGeom>
          <a:noFill/>
        </p:spPr>
        <p:txBody>
          <a:bodyPr wrap="square">
            <a:spAutoFit/>
          </a:bodyPr>
          <a:lstStyle/>
          <a:p>
            <a:pPr algn="l">
              <a:lnSpc>
                <a:spcPts val="2600"/>
              </a:lnSpc>
              <a:spcAft>
                <a:spcPts val="0"/>
              </a:spcAft>
              <a:defRPr sz="2000" b="1" i="0">
                <a:solidFill>
                  <a:srgbClr val="1B2A4A"/>
                </a:solidFill>
                <a:latin typeface="Calibri"/>
              </a:defRPr>
            </a:pPr>
            <a:r>
              <a:t>Implementation Details</a:t>
            </a:r>
          </a:p>
        </p:txBody>
      </p:sp>
      <p:sp>
        <p:nvSpPr>
          <p:cNvPr id="28" name="Rounded Rectangle 27"/>
          <p:cNvSpPr/>
          <p:nvPr/>
        </p:nvSpPr>
        <p:spPr>
          <a:xfrm>
            <a:off x="640080" y="3931920"/>
            <a:ext cx="3474720" cy="21945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023360"/>
            <a:ext cx="3108960" cy="32004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Tools &amp; Build</a:t>
            </a:r>
          </a:p>
        </p:txBody>
      </p:sp>
      <p:sp>
        <p:nvSpPr>
          <p:cNvPr id="30" name="TextBox 29"/>
          <p:cNvSpPr txBox="1"/>
          <p:nvPr/>
        </p:nvSpPr>
        <p:spPr>
          <a:xfrm>
            <a:off x="822960" y="4389120"/>
            <a:ext cx="3108960" cy="1645920"/>
          </a:xfrm>
          <a:prstGeom prst="rect">
            <a:avLst/>
          </a:prstGeom>
          <a:noFill/>
        </p:spPr>
        <p:txBody>
          <a:bodyPr wrap="square">
            <a:spAutoFit/>
          </a:bodyPr>
          <a:lstStyle/>
          <a:p>
            <a:pPr algn="l">
              <a:spcBef>
                <a:spcPts val="0"/>
              </a:spcBef>
              <a:spcAft>
                <a:spcPts val="300"/>
              </a:spcAft>
              <a:defRPr sz="1200" b="0" i="0">
                <a:solidFill>
                  <a:srgbClr val="374151"/>
                </a:solidFill>
                <a:latin typeface="Calibri"/>
              </a:defRPr>
            </a:pPr>
            <a:r>
              <a:t>•  Flex — Lexical analyzer generator</a:t>
            </a:r>
          </a:p>
          <a:p>
            <a:pPr algn="l">
              <a:spcBef>
                <a:spcPts val="0"/>
              </a:spcBef>
              <a:spcAft>
                <a:spcPts val="300"/>
              </a:spcAft>
              <a:defRPr sz="1200" b="0" i="0">
                <a:solidFill>
                  <a:srgbClr val="374151"/>
                </a:solidFill>
                <a:latin typeface="Calibri"/>
              </a:defRPr>
            </a:pPr>
            <a:r>
              <a:t>•  Bison — LALR(1) parser generator</a:t>
            </a:r>
          </a:p>
          <a:p>
            <a:pPr algn="l">
              <a:spcBef>
                <a:spcPts val="0"/>
              </a:spcBef>
              <a:spcAft>
                <a:spcPts val="300"/>
              </a:spcAft>
              <a:defRPr sz="1200" b="0" i="0">
                <a:solidFill>
                  <a:srgbClr val="374151"/>
                </a:solidFill>
                <a:latin typeface="Calibri"/>
              </a:defRPr>
            </a:pPr>
            <a:r>
              <a:t>•  GCC — Compilation to single binary</a:t>
            </a:r>
          </a:p>
          <a:p>
            <a:pPr algn="l">
              <a:spcBef>
                <a:spcPts val="0"/>
              </a:spcBef>
              <a:spcAft>
                <a:spcPts val="300"/>
              </a:spcAft>
              <a:defRPr sz="1200" b="0" i="0">
                <a:solidFill>
                  <a:srgbClr val="374151"/>
                </a:solidFill>
                <a:latin typeface="Calibri"/>
              </a:defRPr>
            </a:pPr>
            <a:r>
              <a:t>•  Make — Build automation</a:t>
            </a:r>
          </a:p>
        </p:txBody>
      </p:sp>
      <p:sp>
        <p:nvSpPr>
          <p:cNvPr id="31" name="Rounded Rectangle 30"/>
          <p:cNvSpPr/>
          <p:nvPr/>
        </p:nvSpPr>
        <p:spPr>
          <a:xfrm>
            <a:off x="4389119" y="3931920"/>
            <a:ext cx="3474720" cy="21945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1999" y="4023360"/>
            <a:ext cx="3108960" cy="32004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Source Files</a:t>
            </a:r>
          </a:p>
        </p:txBody>
      </p:sp>
      <p:sp>
        <p:nvSpPr>
          <p:cNvPr id="33" name="TextBox 32"/>
          <p:cNvSpPr txBox="1"/>
          <p:nvPr/>
        </p:nvSpPr>
        <p:spPr>
          <a:xfrm>
            <a:off x="4571999" y="4389120"/>
            <a:ext cx="3108960" cy="1645920"/>
          </a:xfrm>
          <a:prstGeom prst="rect">
            <a:avLst/>
          </a:prstGeom>
          <a:noFill/>
        </p:spPr>
        <p:txBody>
          <a:bodyPr wrap="square">
            <a:spAutoFit/>
          </a:bodyPr>
          <a:lstStyle/>
          <a:p>
            <a:pPr algn="l">
              <a:spcBef>
                <a:spcPts val="0"/>
              </a:spcBef>
              <a:spcAft>
                <a:spcPts val="300"/>
              </a:spcAft>
              <a:defRPr sz="1200" b="0" i="0">
                <a:solidFill>
                  <a:srgbClr val="374151"/>
                </a:solidFill>
                <a:latin typeface="Calibri"/>
              </a:defRPr>
            </a:pPr>
            <a:r>
              <a:t>•  src/lexer/lexer.l — Flex specification</a:t>
            </a:r>
          </a:p>
          <a:p>
            <a:pPr algn="l">
              <a:spcBef>
                <a:spcPts val="0"/>
              </a:spcBef>
              <a:spcAft>
                <a:spcPts val="300"/>
              </a:spcAft>
              <a:defRPr sz="1200" b="0" i="0">
                <a:solidFill>
                  <a:srgbClr val="374151"/>
                </a:solidFill>
                <a:latin typeface="Calibri"/>
              </a:defRPr>
            </a:pPr>
            <a:r>
              <a:t>•  src/parser/parser.y — Bison grammar + AST + Semantic + TAC</a:t>
            </a:r>
          </a:p>
          <a:p>
            <a:pPr algn="l">
              <a:spcBef>
                <a:spcPts val="0"/>
              </a:spcBef>
              <a:spcAft>
                <a:spcPts val="300"/>
              </a:spcAft>
              <a:defRPr sz="1200" b="0" i="0">
                <a:solidFill>
                  <a:srgbClr val="374151"/>
                </a:solidFill>
                <a:latin typeface="Calibri"/>
              </a:defRPr>
            </a:pPr>
            <a:r>
              <a:t>•  src/main.c — Driver / pipeline orchestrator</a:t>
            </a:r>
          </a:p>
        </p:txBody>
      </p:sp>
      <p:sp>
        <p:nvSpPr>
          <p:cNvPr id="34" name="Rounded Rectangle 33"/>
          <p:cNvSpPr/>
          <p:nvPr/>
        </p:nvSpPr>
        <p:spPr>
          <a:xfrm>
            <a:off x="8138158" y="3931920"/>
            <a:ext cx="3474720" cy="21945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21038" y="4023360"/>
            <a:ext cx="3108960" cy="32004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Data Flow</a:t>
            </a:r>
          </a:p>
        </p:txBody>
      </p:sp>
      <p:sp>
        <p:nvSpPr>
          <p:cNvPr id="36" name="TextBox 35"/>
          <p:cNvSpPr txBox="1"/>
          <p:nvPr/>
        </p:nvSpPr>
        <p:spPr>
          <a:xfrm>
            <a:off x="8321038" y="4389120"/>
            <a:ext cx="3108960" cy="1645920"/>
          </a:xfrm>
          <a:prstGeom prst="rect">
            <a:avLst/>
          </a:prstGeom>
          <a:noFill/>
        </p:spPr>
        <p:txBody>
          <a:bodyPr wrap="square">
            <a:spAutoFit/>
          </a:bodyPr>
          <a:lstStyle/>
          <a:p>
            <a:pPr algn="l">
              <a:spcBef>
                <a:spcPts val="0"/>
              </a:spcBef>
              <a:spcAft>
                <a:spcPts val="300"/>
              </a:spcAft>
              <a:defRPr sz="1200" b="0" i="0">
                <a:solidFill>
                  <a:srgbClr val="374151"/>
                </a:solidFill>
                <a:latin typeface="Calibri"/>
              </a:defRPr>
            </a:pPr>
            <a:r>
              <a:t>•  main.c opens .mc file, sets yyin</a:t>
            </a:r>
          </a:p>
          <a:p>
            <a:pPr algn="l">
              <a:spcBef>
                <a:spcPts val="0"/>
              </a:spcBef>
              <a:spcAft>
                <a:spcPts val="300"/>
              </a:spcAft>
              <a:defRPr sz="1200" b="0" i="0">
                <a:solidFill>
                  <a:srgbClr val="374151"/>
                </a:solidFill>
                <a:latin typeface="Calibri"/>
              </a:defRPr>
            </a:pPr>
            <a:r>
              <a:t>•  yyparse() triggers Flex + Bison pipeline</a:t>
            </a:r>
          </a:p>
          <a:p>
            <a:pPr algn="l">
              <a:spcBef>
                <a:spcPts val="0"/>
              </a:spcBef>
              <a:spcAft>
                <a:spcPts val="300"/>
              </a:spcAft>
              <a:defRPr sz="1200" b="0" i="0">
                <a:solidFill>
                  <a:srgbClr val="374151"/>
                </a:solidFill>
                <a:latin typeface="Calibri"/>
              </a:defRPr>
            </a:pPr>
            <a:r>
              <a:t>•  AST root passed to gen_code() for semantic + TAC</a:t>
            </a:r>
          </a:p>
          <a:p>
            <a:pPr algn="l">
              <a:spcBef>
                <a:spcPts val="0"/>
              </a:spcBef>
              <a:spcAft>
                <a:spcPts val="300"/>
              </a:spcAft>
              <a:defRPr sz="1200" b="0" i="0">
                <a:solidFill>
                  <a:srgbClr val="374151"/>
                </a:solidFill>
                <a:latin typeface="Calibri"/>
              </a:defRPr>
            </a:pPr>
            <a:r>
              <a:t>•  All outputs printed to stdout in labeled sections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Phase 1 — Lexical Analysis (Flex)</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5 / 11</a:t>
            </a:r>
          </a:p>
        </p:txBody>
      </p:sp>
      <p:sp>
        <p:nvSpPr>
          <p:cNvPr id="7" name="TextBox 6"/>
          <p:cNvSpPr txBox="1"/>
          <p:nvPr/>
        </p:nvSpPr>
        <p:spPr>
          <a:xfrm>
            <a:off x="640080" y="1371600"/>
            <a:ext cx="45720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Token Categories Recognized</a:t>
            </a:r>
          </a:p>
        </p:txBody>
      </p:sp>
      <p:sp>
        <p:nvSpPr>
          <p:cNvPr id="8" name="Rectangle 7"/>
          <p:cNvSpPr/>
          <p:nvPr/>
        </p:nvSpPr>
        <p:spPr>
          <a:xfrm>
            <a:off x="640080" y="1828800"/>
            <a:ext cx="73152" cy="411480"/>
          </a:xfrm>
          <a:prstGeom prst="rect">
            <a:avLst/>
          </a:prstGeom>
          <a:solidFill>
            <a:srgbClr val="2E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828800"/>
            <a:ext cx="1645920" cy="41148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Keywords</a:t>
            </a:r>
          </a:p>
        </p:txBody>
      </p:sp>
      <p:sp>
        <p:nvSpPr>
          <p:cNvPr id="10" name="TextBox 9"/>
          <p:cNvSpPr txBox="1"/>
          <p:nvPr/>
        </p:nvSpPr>
        <p:spPr>
          <a:xfrm>
            <a:off x="2560320" y="1847088"/>
            <a:ext cx="3657600" cy="411480"/>
          </a:xfrm>
          <a:prstGeom prst="rect">
            <a:avLst/>
          </a:prstGeom>
          <a:noFill/>
        </p:spPr>
        <p:txBody>
          <a:bodyPr wrap="square">
            <a:spAutoFit/>
          </a:bodyPr>
          <a:lstStyle/>
          <a:p>
            <a:pPr algn="l">
              <a:lnSpc>
                <a:spcPts val="1560"/>
              </a:lnSpc>
              <a:spcAft>
                <a:spcPts val="0"/>
              </a:spcAft>
              <a:defRPr sz="1200" b="0" i="0">
                <a:solidFill>
                  <a:srgbClr val="374151"/>
                </a:solidFill>
                <a:latin typeface="Consolas"/>
              </a:defRPr>
            </a:pPr>
            <a:r>
              <a:t>int  float  bool  if  else  while  print  true  false</a:t>
            </a:r>
          </a:p>
        </p:txBody>
      </p:sp>
      <p:sp>
        <p:nvSpPr>
          <p:cNvPr id="11" name="Rectangle 10"/>
          <p:cNvSpPr/>
          <p:nvPr/>
        </p:nvSpPr>
        <p:spPr>
          <a:xfrm>
            <a:off x="640080" y="2395728"/>
            <a:ext cx="73152" cy="41148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395728"/>
            <a:ext cx="1645920" cy="411480"/>
          </a:xfrm>
          <a:prstGeom prst="rect">
            <a:avLst/>
          </a:prstGeom>
          <a:noFill/>
        </p:spPr>
        <p:txBody>
          <a:bodyPr wrap="square">
            <a:spAutoFit/>
          </a:bodyPr>
          <a:lstStyle/>
          <a:p>
            <a:pPr algn="l">
              <a:lnSpc>
                <a:spcPts val="1950"/>
              </a:lnSpc>
              <a:spcAft>
                <a:spcPts val="0"/>
              </a:spcAft>
              <a:defRPr sz="1500" b="1" i="0">
                <a:solidFill>
                  <a:srgbClr val="3A86D0"/>
                </a:solidFill>
                <a:latin typeface="Calibri"/>
              </a:defRPr>
            </a:pPr>
            <a:r>
              <a:t>Identifiers</a:t>
            </a:r>
          </a:p>
        </p:txBody>
      </p:sp>
      <p:sp>
        <p:nvSpPr>
          <p:cNvPr id="13" name="TextBox 12"/>
          <p:cNvSpPr txBox="1"/>
          <p:nvPr/>
        </p:nvSpPr>
        <p:spPr>
          <a:xfrm>
            <a:off x="2560320" y="2414016"/>
            <a:ext cx="3657600" cy="411480"/>
          </a:xfrm>
          <a:prstGeom prst="rect">
            <a:avLst/>
          </a:prstGeom>
          <a:noFill/>
        </p:spPr>
        <p:txBody>
          <a:bodyPr wrap="square">
            <a:spAutoFit/>
          </a:bodyPr>
          <a:lstStyle/>
          <a:p>
            <a:pPr algn="l">
              <a:lnSpc>
                <a:spcPts val="1560"/>
              </a:lnSpc>
              <a:spcAft>
                <a:spcPts val="0"/>
              </a:spcAft>
              <a:defRPr sz="1200" b="0" i="0">
                <a:solidFill>
                  <a:srgbClr val="374151"/>
                </a:solidFill>
                <a:latin typeface="Consolas"/>
              </a:defRPr>
            </a:pPr>
            <a:r>
              <a:t>[a-zA-Z_][a-zA-Z0-9_]*  (e.g., x, myVar, count)</a:t>
            </a:r>
          </a:p>
        </p:txBody>
      </p:sp>
      <p:sp>
        <p:nvSpPr>
          <p:cNvPr id="14" name="Rectangle 13"/>
          <p:cNvSpPr/>
          <p:nvPr/>
        </p:nvSpPr>
        <p:spPr>
          <a:xfrm>
            <a:off x="640080" y="2962656"/>
            <a:ext cx="73152" cy="411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962656"/>
            <a:ext cx="1645920" cy="411480"/>
          </a:xfrm>
          <a:prstGeom prst="rect">
            <a:avLst/>
          </a:prstGeom>
          <a:noFill/>
        </p:spPr>
        <p:txBody>
          <a:bodyPr wrap="square">
            <a:spAutoFit/>
          </a:bodyPr>
          <a:lstStyle/>
          <a:p>
            <a:pPr algn="l">
              <a:lnSpc>
                <a:spcPts val="1950"/>
              </a:lnSpc>
              <a:spcAft>
                <a:spcPts val="0"/>
              </a:spcAft>
              <a:defRPr sz="1500" b="1" i="0">
                <a:solidFill>
                  <a:srgbClr val="14B8A6"/>
                </a:solidFill>
                <a:latin typeface="Calibri"/>
              </a:defRPr>
            </a:pPr>
            <a:r>
              <a:t>Literals</a:t>
            </a:r>
          </a:p>
        </p:txBody>
      </p:sp>
      <p:sp>
        <p:nvSpPr>
          <p:cNvPr id="16" name="TextBox 15"/>
          <p:cNvSpPr txBox="1"/>
          <p:nvPr/>
        </p:nvSpPr>
        <p:spPr>
          <a:xfrm>
            <a:off x="2560320" y="2980944"/>
            <a:ext cx="3657600" cy="411480"/>
          </a:xfrm>
          <a:prstGeom prst="rect">
            <a:avLst/>
          </a:prstGeom>
          <a:noFill/>
        </p:spPr>
        <p:txBody>
          <a:bodyPr wrap="square">
            <a:spAutoFit/>
          </a:bodyPr>
          <a:lstStyle/>
          <a:p>
            <a:pPr algn="l">
              <a:lnSpc>
                <a:spcPts val="1560"/>
              </a:lnSpc>
              <a:spcAft>
                <a:spcPts val="0"/>
              </a:spcAft>
              <a:defRPr sz="1200" b="0" i="0">
                <a:solidFill>
                  <a:srgbClr val="374151"/>
                </a:solidFill>
                <a:latin typeface="Consolas"/>
              </a:defRPr>
            </a:pPr>
            <a:r>
              <a:t>Integers (42), Floats (3.14), Booleans (true, false)</a:t>
            </a:r>
          </a:p>
        </p:txBody>
      </p:sp>
      <p:sp>
        <p:nvSpPr>
          <p:cNvPr id="17" name="Rectangle 16"/>
          <p:cNvSpPr/>
          <p:nvPr/>
        </p:nvSpPr>
        <p:spPr>
          <a:xfrm>
            <a:off x="640080" y="3529584"/>
            <a:ext cx="73152" cy="4114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529584"/>
            <a:ext cx="1645920" cy="411480"/>
          </a:xfrm>
          <a:prstGeom prst="rect">
            <a:avLst/>
          </a:prstGeom>
          <a:noFill/>
        </p:spPr>
        <p:txBody>
          <a:bodyPr wrap="square">
            <a:spAutoFit/>
          </a:bodyPr>
          <a:lstStyle/>
          <a:p>
            <a:pPr algn="l">
              <a:lnSpc>
                <a:spcPts val="1950"/>
              </a:lnSpc>
              <a:spcAft>
                <a:spcPts val="0"/>
              </a:spcAft>
              <a:defRPr sz="1500" b="1" i="0">
                <a:solidFill>
                  <a:srgbClr val="8B5CF6"/>
                </a:solidFill>
                <a:latin typeface="Calibri"/>
              </a:defRPr>
            </a:pPr>
            <a:r>
              <a:t>Operators</a:t>
            </a:r>
          </a:p>
        </p:txBody>
      </p:sp>
      <p:sp>
        <p:nvSpPr>
          <p:cNvPr id="19" name="TextBox 18"/>
          <p:cNvSpPr txBox="1"/>
          <p:nvPr/>
        </p:nvSpPr>
        <p:spPr>
          <a:xfrm>
            <a:off x="2560320" y="3547872"/>
            <a:ext cx="3657600" cy="411480"/>
          </a:xfrm>
          <a:prstGeom prst="rect">
            <a:avLst/>
          </a:prstGeom>
          <a:noFill/>
        </p:spPr>
        <p:txBody>
          <a:bodyPr wrap="square">
            <a:spAutoFit/>
          </a:bodyPr>
          <a:lstStyle/>
          <a:p>
            <a:pPr algn="l">
              <a:lnSpc>
                <a:spcPts val="1560"/>
              </a:lnSpc>
              <a:spcAft>
                <a:spcPts val="0"/>
              </a:spcAft>
              <a:defRPr sz="1200" b="0" i="0">
                <a:solidFill>
                  <a:srgbClr val="374151"/>
                </a:solidFill>
                <a:latin typeface="Consolas"/>
              </a:defRPr>
            </a:pPr>
            <a:r>
              <a:t>+  −  *  /  %  &lt;  &gt;  &lt;=  &gt;=  ==  !=  &amp;&amp;  ||  !  =</a:t>
            </a:r>
          </a:p>
        </p:txBody>
      </p:sp>
      <p:sp>
        <p:nvSpPr>
          <p:cNvPr id="20" name="Rectangle 19"/>
          <p:cNvSpPr/>
          <p:nvPr/>
        </p:nvSpPr>
        <p:spPr>
          <a:xfrm>
            <a:off x="640080" y="4096512"/>
            <a:ext cx="73152"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096512"/>
            <a:ext cx="1645920" cy="411480"/>
          </a:xfrm>
          <a:prstGeom prst="rect">
            <a:avLst/>
          </a:prstGeom>
          <a:noFill/>
        </p:spPr>
        <p:txBody>
          <a:bodyPr wrap="square">
            <a:spAutoFit/>
          </a:bodyPr>
          <a:lstStyle/>
          <a:p>
            <a:pPr algn="l">
              <a:lnSpc>
                <a:spcPts val="1950"/>
              </a:lnSpc>
              <a:spcAft>
                <a:spcPts val="0"/>
              </a:spcAft>
              <a:defRPr sz="1500" b="1" i="0">
                <a:solidFill>
                  <a:srgbClr val="F59E0B"/>
                </a:solidFill>
                <a:latin typeface="Calibri"/>
              </a:defRPr>
            </a:pPr>
            <a:r>
              <a:t>Delimiters</a:t>
            </a:r>
          </a:p>
        </p:txBody>
      </p:sp>
      <p:sp>
        <p:nvSpPr>
          <p:cNvPr id="22" name="TextBox 21"/>
          <p:cNvSpPr txBox="1"/>
          <p:nvPr/>
        </p:nvSpPr>
        <p:spPr>
          <a:xfrm>
            <a:off x="2560320" y="4114800"/>
            <a:ext cx="3657600" cy="411480"/>
          </a:xfrm>
          <a:prstGeom prst="rect">
            <a:avLst/>
          </a:prstGeom>
          <a:noFill/>
        </p:spPr>
        <p:txBody>
          <a:bodyPr wrap="square">
            <a:spAutoFit/>
          </a:bodyPr>
          <a:lstStyle/>
          <a:p>
            <a:pPr algn="l">
              <a:lnSpc>
                <a:spcPts val="1560"/>
              </a:lnSpc>
              <a:spcAft>
                <a:spcPts val="0"/>
              </a:spcAft>
              <a:defRPr sz="1200" b="0" i="0">
                <a:solidFill>
                  <a:srgbClr val="374151"/>
                </a:solidFill>
                <a:latin typeface="Consolas"/>
              </a:defRPr>
            </a:pPr>
            <a:r>
              <a:t>{   }   (   )   ;</a:t>
            </a:r>
          </a:p>
        </p:txBody>
      </p:sp>
      <p:sp>
        <p:nvSpPr>
          <p:cNvPr id="23" name="Rectangle 22"/>
          <p:cNvSpPr/>
          <p:nvPr/>
        </p:nvSpPr>
        <p:spPr>
          <a:xfrm>
            <a:off x="640080" y="4663440"/>
            <a:ext cx="73152" cy="41148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663440"/>
            <a:ext cx="1645920" cy="411480"/>
          </a:xfrm>
          <a:prstGeom prst="rect">
            <a:avLst/>
          </a:prstGeom>
          <a:noFill/>
        </p:spPr>
        <p:txBody>
          <a:bodyPr wrap="square">
            <a:spAutoFit/>
          </a:bodyPr>
          <a:lstStyle/>
          <a:p>
            <a:pPr algn="l">
              <a:lnSpc>
                <a:spcPts val="1950"/>
              </a:lnSpc>
              <a:spcAft>
                <a:spcPts val="0"/>
              </a:spcAft>
              <a:defRPr sz="1500" b="1" i="0">
                <a:solidFill>
                  <a:srgbClr val="6B7280"/>
                </a:solidFill>
                <a:latin typeface="Calibri"/>
              </a:defRPr>
            </a:pPr>
            <a:r>
              <a:t>Comments</a:t>
            </a:r>
          </a:p>
        </p:txBody>
      </p:sp>
      <p:sp>
        <p:nvSpPr>
          <p:cNvPr id="25" name="TextBox 24"/>
          <p:cNvSpPr txBox="1"/>
          <p:nvPr/>
        </p:nvSpPr>
        <p:spPr>
          <a:xfrm>
            <a:off x="2560320" y="4681728"/>
            <a:ext cx="3657600" cy="411480"/>
          </a:xfrm>
          <a:prstGeom prst="rect">
            <a:avLst/>
          </a:prstGeom>
          <a:noFill/>
        </p:spPr>
        <p:txBody>
          <a:bodyPr wrap="square">
            <a:spAutoFit/>
          </a:bodyPr>
          <a:lstStyle/>
          <a:p>
            <a:pPr algn="l">
              <a:lnSpc>
                <a:spcPts val="1560"/>
              </a:lnSpc>
              <a:spcAft>
                <a:spcPts val="0"/>
              </a:spcAft>
              <a:defRPr sz="1200" b="0" i="0">
                <a:solidFill>
                  <a:srgbClr val="374151"/>
                </a:solidFill>
                <a:latin typeface="Consolas"/>
              </a:defRPr>
            </a:pPr>
            <a:r>
              <a:t>//  single-line    /* ... */  block  (stripped)</a:t>
            </a:r>
          </a:p>
        </p:txBody>
      </p:sp>
      <p:sp>
        <p:nvSpPr>
          <p:cNvPr id="26" name="TextBox 25"/>
          <p:cNvSpPr txBox="1"/>
          <p:nvPr/>
        </p:nvSpPr>
        <p:spPr>
          <a:xfrm>
            <a:off x="6583680" y="1371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Example: Tokenizing  int x;</a:t>
            </a:r>
          </a:p>
        </p:txBody>
      </p:sp>
      <p:sp>
        <p:nvSpPr>
          <p:cNvPr id="27" name="Rounded Rectangle 26"/>
          <p:cNvSpPr/>
          <p:nvPr/>
        </p:nvSpPr>
        <p:spPr>
          <a:xfrm>
            <a:off x="6583680" y="1920240"/>
            <a:ext cx="4846320" cy="5943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6560" y="1965960"/>
            <a:ext cx="4572000" cy="502920"/>
          </a:xfrm>
          <a:prstGeom prst="rect">
            <a:avLst/>
          </a:prstGeom>
          <a:noFill/>
        </p:spPr>
        <p:txBody>
          <a:bodyPr wrap="square">
            <a:spAutoFit/>
          </a:bodyPr>
          <a:lstStyle/>
          <a:p>
            <a:pPr algn="l">
              <a:lnSpc>
                <a:spcPts val="2080"/>
              </a:lnSpc>
              <a:spcAft>
                <a:spcPts val="0"/>
              </a:spcAft>
              <a:defRPr sz="1600" b="0" i="0">
                <a:solidFill>
                  <a:srgbClr val="374151"/>
                </a:solidFill>
                <a:latin typeface="Consolas"/>
              </a:defRPr>
            </a:pPr>
            <a:r>
              <a:t>Input:   int x;</a:t>
            </a:r>
          </a:p>
        </p:txBody>
      </p:sp>
      <p:sp>
        <p:nvSpPr>
          <p:cNvPr id="29" name="TextBox 28"/>
          <p:cNvSpPr txBox="1"/>
          <p:nvPr/>
        </p:nvSpPr>
        <p:spPr>
          <a:xfrm>
            <a:off x="8686800" y="2606040"/>
            <a:ext cx="914400" cy="320040"/>
          </a:xfrm>
          <a:prstGeom prst="rect">
            <a:avLst/>
          </a:prstGeom>
          <a:noFill/>
        </p:spPr>
        <p:txBody>
          <a:bodyPr wrap="square">
            <a:spAutoFit/>
          </a:bodyPr>
          <a:lstStyle/>
          <a:p>
            <a:pPr algn="ctr">
              <a:lnSpc>
                <a:spcPts val="2600"/>
              </a:lnSpc>
              <a:spcAft>
                <a:spcPts val="0"/>
              </a:spcAft>
              <a:defRPr sz="2000" b="0" i="0">
                <a:solidFill>
                  <a:srgbClr val="3A86D0"/>
                </a:solidFill>
                <a:latin typeface="Calibri"/>
              </a:defRPr>
            </a:pPr>
            <a:r>
              <a:t>▼</a:t>
            </a:r>
          </a:p>
        </p:txBody>
      </p:sp>
      <p:sp>
        <p:nvSpPr>
          <p:cNvPr id="30" name="Rounded Rectangle 29"/>
          <p:cNvSpPr/>
          <p:nvPr/>
        </p:nvSpPr>
        <p:spPr>
          <a:xfrm>
            <a:off x="6583680" y="3017520"/>
            <a:ext cx="4846320" cy="4572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66560" y="3063240"/>
            <a:ext cx="914400" cy="365760"/>
          </a:xfrm>
          <a:prstGeom prst="rect">
            <a:avLst/>
          </a:prstGeom>
          <a:noFill/>
        </p:spPr>
        <p:txBody>
          <a:bodyPr wrap="square">
            <a:spAutoFit/>
          </a:bodyPr>
          <a:lstStyle/>
          <a:p>
            <a:pPr algn="l">
              <a:lnSpc>
                <a:spcPts val="1690"/>
              </a:lnSpc>
              <a:spcAft>
                <a:spcPts val="0"/>
              </a:spcAft>
              <a:defRPr sz="1300" b="0" i="0">
                <a:solidFill>
                  <a:srgbClr val="6B7280"/>
                </a:solidFill>
                <a:latin typeface="Calibri"/>
              </a:defRPr>
            </a:pPr>
            <a:r>
              <a:t>Line 1</a:t>
            </a:r>
          </a:p>
        </p:txBody>
      </p:sp>
      <p:sp>
        <p:nvSpPr>
          <p:cNvPr id="32" name="TextBox 31"/>
          <p:cNvSpPr txBox="1"/>
          <p:nvPr/>
        </p:nvSpPr>
        <p:spPr>
          <a:xfrm>
            <a:off x="7772400" y="3063240"/>
            <a:ext cx="1645920" cy="365760"/>
          </a:xfrm>
          <a:prstGeom prst="rect">
            <a:avLst/>
          </a:prstGeom>
          <a:noFill/>
        </p:spPr>
        <p:txBody>
          <a:bodyPr wrap="square">
            <a:spAutoFit/>
          </a:bodyPr>
          <a:lstStyle/>
          <a:p>
            <a:pPr algn="l">
              <a:lnSpc>
                <a:spcPts val="1820"/>
              </a:lnSpc>
              <a:spcAft>
                <a:spcPts val="0"/>
              </a:spcAft>
              <a:defRPr sz="1400" b="1" i="0">
                <a:solidFill>
                  <a:srgbClr val="2E5EAA"/>
                </a:solidFill>
                <a:latin typeface="Calibri"/>
              </a:defRPr>
            </a:pPr>
            <a:r>
              <a:t>KEYWORD</a:t>
            </a:r>
          </a:p>
        </p:txBody>
      </p:sp>
      <p:sp>
        <p:nvSpPr>
          <p:cNvPr id="33" name="TextBox 32"/>
          <p:cNvSpPr txBox="1"/>
          <p:nvPr/>
        </p:nvSpPr>
        <p:spPr>
          <a:xfrm>
            <a:off x="9601200" y="3063240"/>
            <a:ext cx="1371600" cy="365760"/>
          </a:xfrm>
          <a:prstGeom prst="rect">
            <a:avLst/>
          </a:prstGeom>
          <a:noFill/>
        </p:spPr>
        <p:txBody>
          <a:bodyPr wrap="square">
            <a:spAutoFit/>
          </a:bodyPr>
          <a:lstStyle/>
          <a:p>
            <a:pPr algn="l">
              <a:lnSpc>
                <a:spcPts val="1820"/>
              </a:lnSpc>
              <a:spcAft>
                <a:spcPts val="0"/>
              </a:spcAft>
              <a:defRPr sz="1400" b="0" i="0">
                <a:solidFill>
                  <a:srgbClr val="374151"/>
                </a:solidFill>
                <a:latin typeface="Consolas"/>
              </a:defRPr>
            </a:pPr>
            <a:r>
              <a:t>"int"</a:t>
            </a:r>
          </a:p>
        </p:txBody>
      </p:sp>
      <p:sp>
        <p:nvSpPr>
          <p:cNvPr id="34" name="Rounded Rectangle 33"/>
          <p:cNvSpPr/>
          <p:nvPr/>
        </p:nvSpPr>
        <p:spPr>
          <a:xfrm>
            <a:off x="6583680" y="3566160"/>
            <a:ext cx="4846320" cy="4572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66560" y="3611880"/>
            <a:ext cx="914400" cy="365760"/>
          </a:xfrm>
          <a:prstGeom prst="rect">
            <a:avLst/>
          </a:prstGeom>
          <a:noFill/>
        </p:spPr>
        <p:txBody>
          <a:bodyPr wrap="square">
            <a:spAutoFit/>
          </a:bodyPr>
          <a:lstStyle/>
          <a:p>
            <a:pPr algn="l">
              <a:lnSpc>
                <a:spcPts val="1690"/>
              </a:lnSpc>
              <a:spcAft>
                <a:spcPts val="0"/>
              </a:spcAft>
              <a:defRPr sz="1300" b="0" i="0">
                <a:solidFill>
                  <a:srgbClr val="6B7280"/>
                </a:solidFill>
                <a:latin typeface="Calibri"/>
              </a:defRPr>
            </a:pPr>
            <a:r>
              <a:t>Line 1</a:t>
            </a:r>
          </a:p>
        </p:txBody>
      </p:sp>
      <p:sp>
        <p:nvSpPr>
          <p:cNvPr id="36" name="TextBox 35"/>
          <p:cNvSpPr txBox="1"/>
          <p:nvPr/>
        </p:nvSpPr>
        <p:spPr>
          <a:xfrm>
            <a:off x="7772400" y="3611880"/>
            <a:ext cx="1645920" cy="365760"/>
          </a:xfrm>
          <a:prstGeom prst="rect">
            <a:avLst/>
          </a:prstGeom>
          <a:noFill/>
        </p:spPr>
        <p:txBody>
          <a:bodyPr wrap="square">
            <a:spAutoFit/>
          </a:bodyPr>
          <a:lstStyle/>
          <a:p>
            <a:pPr algn="l">
              <a:lnSpc>
                <a:spcPts val="1820"/>
              </a:lnSpc>
              <a:spcAft>
                <a:spcPts val="0"/>
              </a:spcAft>
              <a:defRPr sz="1400" b="1" i="0">
                <a:solidFill>
                  <a:srgbClr val="3A86D0"/>
                </a:solidFill>
                <a:latin typeface="Calibri"/>
              </a:defRPr>
            </a:pPr>
            <a:r>
              <a:t>IDENTIFIER</a:t>
            </a:r>
          </a:p>
        </p:txBody>
      </p:sp>
      <p:sp>
        <p:nvSpPr>
          <p:cNvPr id="37" name="TextBox 36"/>
          <p:cNvSpPr txBox="1"/>
          <p:nvPr/>
        </p:nvSpPr>
        <p:spPr>
          <a:xfrm>
            <a:off x="9601200" y="3611880"/>
            <a:ext cx="1371600" cy="365760"/>
          </a:xfrm>
          <a:prstGeom prst="rect">
            <a:avLst/>
          </a:prstGeom>
          <a:noFill/>
        </p:spPr>
        <p:txBody>
          <a:bodyPr wrap="square">
            <a:spAutoFit/>
          </a:bodyPr>
          <a:lstStyle/>
          <a:p>
            <a:pPr algn="l">
              <a:lnSpc>
                <a:spcPts val="1820"/>
              </a:lnSpc>
              <a:spcAft>
                <a:spcPts val="0"/>
              </a:spcAft>
              <a:defRPr sz="1400" b="0" i="0">
                <a:solidFill>
                  <a:srgbClr val="374151"/>
                </a:solidFill>
                <a:latin typeface="Consolas"/>
              </a:defRPr>
            </a:pPr>
            <a:r>
              <a:t>"x"</a:t>
            </a:r>
          </a:p>
        </p:txBody>
      </p:sp>
      <p:sp>
        <p:nvSpPr>
          <p:cNvPr id="38" name="Rounded Rectangle 37"/>
          <p:cNvSpPr/>
          <p:nvPr/>
        </p:nvSpPr>
        <p:spPr>
          <a:xfrm>
            <a:off x="6583680" y="4114800"/>
            <a:ext cx="4846320" cy="4572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766560" y="4160520"/>
            <a:ext cx="914400" cy="365760"/>
          </a:xfrm>
          <a:prstGeom prst="rect">
            <a:avLst/>
          </a:prstGeom>
          <a:noFill/>
        </p:spPr>
        <p:txBody>
          <a:bodyPr wrap="square">
            <a:spAutoFit/>
          </a:bodyPr>
          <a:lstStyle/>
          <a:p>
            <a:pPr algn="l">
              <a:lnSpc>
                <a:spcPts val="1690"/>
              </a:lnSpc>
              <a:spcAft>
                <a:spcPts val="0"/>
              </a:spcAft>
              <a:defRPr sz="1300" b="0" i="0">
                <a:solidFill>
                  <a:srgbClr val="6B7280"/>
                </a:solidFill>
                <a:latin typeface="Calibri"/>
              </a:defRPr>
            </a:pPr>
            <a:r>
              <a:t>Line 1</a:t>
            </a:r>
          </a:p>
        </p:txBody>
      </p:sp>
      <p:sp>
        <p:nvSpPr>
          <p:cNvPr id="40" name="TextBox 39"/>
          <p:cNvSpPr txBox="1"/>
          <p:nvPr/>
        </p:nvSpPr>
        <p:spPr>
          <a:xfrm>
            <a:off x="7772400" y="4160520"/>
            <a:ext cx="1645920" cy="365760"/>
          </a:xfrm>
          <a:prstGeom prst="rect">
            <a:avLst/>
          </a:prstGeom>
          <a:noFill/>
        </p:spPr>
        <p:txBody>
          <a:bodyPr wrap="square">
            <a:spAutoFit/>
          </a:bodyPr>
          <a:lstStyle/>
          <a:p>
            <a:pPr algn="l">
              <a:lnSpc>
                <a:spcPts val="1820"/>
              </a:lnSpc>
              <a:spcAft>
                <a:spcPts val="0"/>
              </a:spcAft>
              <a:defRPr sz="1400" b="1" i="0">
                <a:solidFill>
                  <a:srgbClr val="F59E0B"/>
                </a:solidFill>
                <a:latin typeface="Calibri"/>
              </a:defRPr>
            </a:pPr>
            <a:r>
              <a:t>SEMICOLON</a:t>
            </a:r>
          </a:p>
        </p:txBody>
      </p:sp>
      <p:sp>
        <p:nvSpPr>
          <p:cNvPr id="41" name="TextBox 40"/>
          <p:cNvSpPr txBox="1"/>
          <p:nvPr/>
        </p:nvSpPr>
        <p:spPr>
          <a:xfrm>
            <a:off x="9601200" y="4160520"/>
            <a:ext cx="1371600" cy="365760"/>
          </a:xfrm>
          <a:prstGeom prst="rect">
            <a:avLst/>
          </a:prstGeom>
          <a:noFill/>
        </p:spPr>
        <p:txBody>
          <a:bodyPr wrap="square">
            <a:spAutoFit/>
          </a:bodyPr>
          <a:lstStyle/>
          <a:p>
            <a:pPr algn="l">
              <a:lnSpc>
                <a:spcPts val="1820"/>
              </a:lnSpc>
              <a:spcAft>
                <a:spcPts val="0"/>
              </a:spcAft>
              <a:defRPr sz="1400" b="0" i="0">
                <a:solidFill>
                  <a:srgbClr val="374151"/>
                </a:solidFill>
                <a:latin typeface="Consolas"/>
              </a:defRPr>
            </a:pPr>
            <a:r>
              <a:t>";"</a:t>
            </a:r>
          </a:p>
        </p:txBody>
      </p:sp>
      <p:sp>
        <p:nvSpPr>
          <p:cNvPr id="42" name="TextBox 41"/>
          <p:cNvSpPr txBox="1"/>
          <p:nvPr/>
        </p:nvSpPr>
        <p:spPr>
          <a:xfrm>
            <a:off x="6583680" y="4754880"/>
            <a:ext cx="4846320" cy="365760"/>
          </a:xfrm>
          <a:prstGeom prst="rect">
            <a:avLst/>
          </a:prstGeom>
          <a:noFill/>
        </p:spPr>
        <p:txBody>
          <a:bodyPr wrap="square">
            <a:spAutoFit/>
          </a:bodyPr>
          <a:lstStyle/>
          <a:p>
            <a:pPr algn="l">
              <a:lnSpc>
                <a:spcPts val="2080"/>
              </a:lnSpc>
              <a:spcAft>
                <a:spcPts val="0"/>
              </a:spcAft>
              <a:defRPr sz="1600" b="1" i="0">
                <a:solidFill>
                  <a:srgbClr val="1B2A4A"/>
                </a:solidFill>
                <a:latin typeface="Calibri"/>
              </a:defRPr>
            </a:pPr>
            <a:r>
              <a:t>Key Implementation Details</a:t>
            </a:r>
          </a:p>
        </p:txBody>
      </p:sp>
      <p:sp>
        <p:nvSpPr>
          <p:cNvPr id="43" name="TextBox 42"/>
          <p:cNvSpPr txBox="1"/>
          <p:nvPr/>
        </p:nvSpPr>
        <p:spPr>
          <a:xfrm>
            <a:off x="6583680" y="5120640"/>
            <a:ext cx="4846320" cy="1097280"/>
          </a:xfrm>
          <a:prstGeom prst="rect">
            <a:avLst/>
          </a:prstGeom>
          <a:noFill/>
        </p:spPr>
        <p:txBody>
          <a:bodyPr wrap="square">
            <a:spAutoFit/>
          </a:bodyPr>
          <a:lstStyle/>
          <a:p>
            <a:pPr algn="l">
              <a:spcBef>
                <a:spcPts val="0"/>
              </a:spcBef>
              <a:spcAft>
                <a:spcPts val="300"/>
              </a:spcAft>
              <a:defRPr sz="1300" b="0" i="0">
                <a:solidFill>
                  <a:srgbClr val="374151"/>
                </a:solidFill>
                <a:latin typeface="Calibri"/>
              </a:defRPr>
            </a:pPr>
            <a:r>
              <a:t>•  Flex longest-match rule resolves ambiguity (e.g., &lt;= vs &lt;)</a:t>
            </a:r>
          </a:p>
          <a:p>
            <a:pPr algn="l">
              <a:spcBef>
                <a:spcPts val="0"/>
              </a:spcBef>
              <a:spcAft>
                <a:spcPts val="300"/>
              </a:spcAft>
              <a:defRPr sz="1300" b="0" i="0">
                <a:solidFill>
                  <a:srgbClr val="374151"/>
                </a:solidFill>
                <a:latin typeface="Calibri"/>
              </a:defRPr>
            </a:pPr>
            <a:r>
              <a:t>•  Line tracking via yylineno for diagnostic messages</a:t>
            </a:r>
          </a:p>
          <a:p>
            <a:pPr algn="l">
              <a:spcBef>
                <a:spcPts val="0"/>
              </a:spcBef>
              <a:spcAft>
                <a:spcPts val="300"/>
              </a:spcAft>
              <a:defRPr sz="1300" b="0" i="0">
                <a:solidFill>
                  <a:srgbClr val="374151"/>
                </a:solidFill>
                <a:latin typeface="Calibri"/>
              </a:defRPr>
            </a:pPr>
            <a:r>
              <a:t>•  Invalid characters emit: Lexical Error [Line N]: Invalid token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Phase 2 &amp; 3 — Syntax Analysis (Bison) &amp; AST Construction</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6 / 11</a:t>
            </a:r>
          </a:p>
        </p:txBody>
      </p:sp>
      <p:sp>
        <p:nvSpPr>
          <p:cNvPr id="7" name="TextBox 6"/>
          <p:cNvSpPr txBox="1"/>
          <p:nvPr/>
        </p:nvSpPr>
        <p:spPr>
          <a:xfrm>
            <a:off x="640080" y="1371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Syntax Analyzer (Bison)</a:t>
            </a:r>
          </a:p>
        </p:txBody>
      </p:sp>
      <p:sp>
        <p:nvSpPr>
          <p:cNvPr id="8" name="TextBox 7"/>
          <p:cNvSpPr txBox="1"/>
          <p:nvPr/>
        </p:nvSpPr>
        <p:spPr>
          <a:xfrm>
            <a:off x="640080" y="1828800"/>
            <a:ext cx="5029200" cy="1645920"/>
          </a:xfrm>
          <a:prstGeom prst="rect">
            <a:avLst/>
          </a:prstGeom>
          <a:noFill/>
        </p:spPr>
        <p:txBody>
          <a:bodyPr wrap="square">
            <a:spAutoFit/>
          </a:bodyPr>
          <a:lstStyle/>
          <a:p>
            <a:pPr algn="l">
              <a:spcBef>
                <a:spcPts val="0"/>
              </a:spcBef>
              <a:spcAft>
                <a:spcPts val="500"/>
              </a:spcAft>
              <a:defRPr sz="1500" b="0" i="0">
                <a:solidFill>
                  <a:srgbClr val="374151"/>
                </a:solidFill>
                <a:latin typeface="Calibri"/>
              </a:defRPr>
            </a:pPr>
            <a:r>
              <a:t>•  LALR(1) parsing — efficient bottom-up approach</a:t>
            </a:r>
          </a:p>
          <a:p>
            <a:pPr algn="l">
              <a:spcBef>
                <a:spcPts val="0"/>
              </a:spcBef>
              <a:spcAft>
                <a:spcPts val="500"/>
              </a:spcAft>
              <a:defRPr sz="1500" b="0" i="0">
                <a:solidFill>
                  <a:srgbClr val="374151"/>
                </a:solidFill>
                <a:latin typeface="Calibri"/>
              </a:defRPr>
            </a:pPr>
            <a:r>
              <a:t>•  Context-Free Grammar (CFG) rules for all statements</a:t>
            </a:r>
          </a:p>
          <a:p>
            <a:pPr algn="l">
              <a:spcBef>
                <a:spcPts val="0"/>
              </a:spcBef>
              <a:spcAft>
                <a:spcPts val="500"/>
              </a:spcAft>
              <a:defRPr sz="1500" b="0" i="0">
                <a:solidFill>
                  <a:srgbClr val="374151"/>
                </a:solidFill>
                <a:latin typeface="Calibri"/>
              </a:defRPr>
            </a:pPr>
            <a:r>
              <a:t>•  Operator precedence: ! (highest) → * / % → + − → relational → logical</a:t>
            </a:r>
          </a:p>
          <a:p>
            <a:pPr algn="l">
              <a:spcBef>
                <a:spcPts val="0"/>
              </a:spcBef>
              <a:spcAft>
                <a:spcPts val="500"/>
              </a:spcAft>
              <a:defRPr sz="1500" b="0" i="0">
                <a:solidFill>
                  <a:srgbClr val="374151"/>
                </a:solidFill>
                <a:latin typeface="Calibri"/>
              </a:defRPr>
            </a:pPr>
            <a:r>
              <a:t>•  Syntax error reporting with line numbers</a:t>
            </a:r>
          </a:p>
          <a:p>
            <a:pPr algn="l">
              <a:spcBef>
                <a:spcPts val="0"/>
              </a:spcBef>
              <a:spcAft>
                <a:spcPts val="500"/>
              </a:spcAft>
              <a:defRPr sz="1500" b="0" i="0">
                <a:solidFill>
                  <a:srgbClr val="374151"/>
                </a:solidFill>
                <a:latin typeface="Calibri"/>
              </a:defRPr>
            </a:pPr>
            <a:r>
              <a:t>•  Error recovery via Bison error token + semicolon sync</a:t>
            </a:r>
          </a:p>
        </p:txBody>
      </p:sp>
      <p:sp>
        <p:nvSpPr>
          <p:cNvPr id="9" name="TextBox 8"/>
          <p:cNvSpPr txBox="1"/>
          <p:nvPr/>
        </p:nvSpPr>
        <p:spPr>
          <a:xfrm>
            <a:off x="640080" y="3657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AST Node Types</a:t>
            </a:r>
          </a:p>
        </p:txBody>
      </p:sp>
      <p:sp>
        <p:nvSpPr>
          <p:cNvPr id="10" name="TextBox 9"/>
          <p:cNvSpPr txBox="1"/>
          <p:nvPr/>
        </p:nvSpPr>
        <p:spPr>
          <a:xfrm>
            <a:off x="640080" y="4114800"/>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NODE_PROGRAM</a:t>
            </a:r>
          </a:p>
        </p:txBody>
      </p:sp>
      <p:sp>
        <p:nvSpPr>
          <p:cNvPr id="11" name="TextBox 10"/>
          <p:cNvSpPr txBox="1"/>
          <p:nvPr/>
        </p:nvSpPr>
        <p:spPr>
          <a:xfrm>
            <a:off x="2468880" y="4114800"/>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NODE_DECL</a:t>
            </a:r>
          </a:p>
        </p:txBody>
      </p:sp>
      <p:sp>
        <p:nvSpPr>
          <p:cNvPr id="12" name="TextBox 11"/>
          <p:cNvSpPr txBox="1"/>
          <p:nvPr/>
        </p:nvSpPr>
        <p:spPr>
          <a:xfrm>
            <a:off x="4297680" y="4114800"/>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NODE_ASSIGN</a:t>
            </a:r>
          </a:p>
        </p:txBody>
      </p:sp>
      <p:sp>
        <p:nvSpPr>
          <p:cNvPr id="13" name="TextBox 12"/>
          <p:cNvSpPr txBox="1"/>
          <p:nvPr/>
        </p:nvSpPr>
        <p:spPr>
          <a:xfrm>
            <a:off x="640080" y="4462272"/>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NODE_IF</a:t>
            </a:r>
          </a:p>
        </p:txBody>
      </p:sp>
      <p:sp>
        <p:nvSpPr>
          <p:cNvPr id="14" name="TextBox 13"/>
          <p:cNvSpPr txBox="1"/>
          <p:nvPr/>
        </p:nvSpPr>
        <p:spPr>
          <a:xfrm>
            <a:off x="2468880" y="4462272"/>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NODE_IF_ELSE</a:t>
            </a:r>
          </a:p>
        </p:txBody>
      </p:sp>
      <p:sp>
        <p:nvSpPr>
          <p:cNvPr id="15" name="TextBox 14"/>
          <p:cNvSpPr txBox="1"/>
          <p:nvPr/>
        </p:nvSpPr>
        <p:spPr>
          <a:xfrm>
            <a:off x="4297680" y="4462272"/>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NODE_WHILE</a:t>
            </a:r>
          </a:p>
        </p:txBody>
      </p:sp>
      <p:sp>
        <p:nvSpPr>
          <p:cNvPr id="16" name="TextBox 15"/>
          <p:cNvSpPr txBox="1"/>
          <p:nvPr/>
        </p:nvSpPr>
        <p:spPr>
          <a:xfrm>
            <a:off x="640080" y="4809744"/>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NODE_PRINT</a:t>
            </a:r>
          </a:p>
        </p:txBody>
      </p:sp>
      <p:sp>
        <p:nvSpPr>
          <p:cNvPr id="17" name="TextBox 16"/>
          <p:cNvSpPr txBox="1"/>
          <p:nvPr/>
        </p:nvSpPr>
        <p:spPr>
          <a:xfrm>
            <a:off x="2468880" y="4809744"/>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NODE_BLOCK</a:t>
            </a:r>
          </a:p>
        </p:txBody>
      </p:sp>
      <p:sp>
        <p:nvSpPr>
          <p:cNvPr id="18" name="TextBox 17"/>
          <p:cNvSpPr txBox="1"/>
          <p:nvPr/>
        </p:nvSpPr>
        <p:spPr>
          <a:xfrm>
            <a:off x="4297680" y="4809744"/>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NODE_BINOP</a:t>
            </a:r>
          </a:p>
        </p:txBody>
      </p:sp>
      <p:sp>
        <p:nvSpPr>
          <p:cNvPr id="19" name="TextBox 18"/>
          <p:cNvSpPr txBox="1"/>
          <p:nvPr/>
        </p:nvSpPr>
        <p:spPr>
          <a:xfrm>
            <a:off x="640080" y="5157216"/>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NODE_UNOP</a:t>
            </a:r>
          </a:p>
        </p:txBody>
      </p:sp>
      <p:sp>
        <p:nvSpPr>
          <p:cNvPr id="20" name="TextBox 19"/>
          <p:cNvSpPr txBox="1"/>
          <p:nvPr/>
        </p:nvSpPr>
        <p:spPr>
          <a:xfrm>
            <a:off x="2468880" y="5157216"/>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NODE_IDENT</a:t>
            </a:r>
          </a:p>
        </p:txBody>
      </p:sp>
      <p:sp>
        <p:nvSpPr>
          <p:cNvPr id="21" name="TextBox 20"/>
          <p:cNvSpPr txBox="1"/>
          <p:nvPr/>
        </p:nvSpPr>
        <p:spPr>
          <a:xfrm>
            <a:off x="4297680" y="5157216"/>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NODE_INT_LIT</a:t>
            </a:r>
          </a:p>
        </p:txBody>
      </p:sp>
      <p:sp>
        <p:nvSpPr>
          <p:cNvPr id="22" name="TextBox 21"/>
          <p:cNvSpPr txBox="1"/>
          <p:nvPr/>
        </p:nvSpPr>
        <p:spPr>
          <a:xfrm>
            <a:off x="640080" y="5504688"/>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NODE_FLOAT_LIT</a:t>
            </a:r>
          </a:p>
        </p:txBody>
      </p:sp>
      <p:sp>
        <p:nvSpPr>
          <p:cNvPr id="23" name="TextBox 22"/>
          <p:cNvSpPr txBox="1"/>
          <p:nvPr/>
        </p:nvSpPr>
        <p:spPr>
          <a:xfrm>
            <a:off x="2468880" y="5504688"/>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NODE_BOOL_LIT</a:t>
            </a:r>
          </a:p>
        </p:txBody>
      </p:sp>
      <p:sp>
        <p:nvSpPr>
          <p:cNvPr id="24" name="TextBox 23"/>
          <p:cNvSpPr txBox="1"/>
          <p:nvPr/>
        </p:nvSpPr>
        <p:spPr>
          <a:xfrm>
            <a:off x="4297680" y="5504688"/>
            <a:ext cx="1737360" cy="320040"/>
          </a:xfrm>
          <a:prstGeom prst="rect">
            <a:avLst/>
          </a:prstGeom>
          <a:noFill/>
        </p:spPr>
        <p:txBody>
          <a:bodyPr wrap="square">
            <a:spAutoFit/>
          </a:bodyPr>
          <a:lstStyle/>
          <a:p>
            <a:pPr algn="l">
              <a:lnSpc>
                <a:spcPts val="1430"/>
              </a:lnSpc>
              <a:spcAft>
                <a:spcPts val="0"/>
              </a:spcAft>
              <a:defRPr sz="1100" b="0" i="0">
                <a:solidFill>
                  <a:srgbClr val="374151"/>
                </a:solidFill>
                <a:latin typeface="Consolas"/>
              </a:defRPr>
            </a:pPr>
            <a:r>
              <a:t>•  NODE_STMT_LIST</a:t>
            </a:r>
          </a:p>
        </p:txBody>
      </p:sp>
      <p:sp>
        <p:nvSpPr>
          <p:cNvPr id="25" name="TextBox 24"/>
          <p:cNvSpPr txBox="1"/>
          <p:nvPr/>
        </p:nvSpPr>
        <p:spPr>
          <a:xfrm>
            <a:off x="6400800" y="1371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AST Visualization:  x = a + b * 2</a:t>
            </a:r>
          </a:p>
        </p:txBody>
      </p:sp>
      <p:sp>
        <p:nvSpPr>
          <p:cNvPr id="26" name="Rounded Rectangle 25"/>
          <p:cNvSpPr/>
          <p:nvPr/>
        </p:nvSpPr>
        <p:spPr>
          <a:xfrm>
            <a:off x="6400800" y="1920240"/>
            <a:ext cx="5029200" cy="40233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77375" y="2226564"/>
            <a:ext cx="4572000" cy="3840480"/>
          </a:xfrm>
          <a:prstGeom prst="rect">
            <a:avLst/>
          </a:prstGeom>
          <a:noFill/>
        </p:spPr>
        <p:txBody>
          <a:bodyPr wrap="square">
            <a:spAutoFit/>
          </a:bodyPr>
          <a:lstStyle/>
          <a:p>
            <a:pPr algn="l">
              <a:lnSpc>
                <a:spcPts val="1560"/>
              </a:lnSpc>
              <a:spcAft>
                <a:spcPts val="0"/>
              </a:spcAft>
              <a:defRPr sz="1300" b="0" i="0">
                <a:solidFill>
                  <a:srgbClr val="374151"/>
                </a:solidFill>
                <a:latin typeface="Consolas"/>
              </a:defRPr>
            </a:pPr>
            <a:r>
              <a:rPr dirty="0"/>
              <a:t>Program</a:t>
            </a:r>
            <a:br>
              <a:rPr dirty="0"/>
            </a:br>
            <a:r>
              <a:rPr dirty="0"/>
              <a:t>└── </a:t>
            </a:r>
            <a:r>
              <a:rPr dirty="0" err="1"/>
              <a:t>StmtList</a:t>
            </a:r>
            <a:br>
              <a:rPr dirty="0"/>
            </a:br>
            <a:r>
              <a:rPr dirty="0"/>
              <a:t>    └── Assign</a:t>
            </a:r>
            <a:br>
              <a:rPr dirty="0"/>
            </a:br>
            <a:r>
              <a:rPr dirty="0"/>
              <a:t>        ├── Ident: x</a:t>
            </a:r>
            <a:br>
              <a:rPr dirty="0"/>
            </a:br>
            <a:r>
              <a:rPr dirty="0"/>
              <a:t>        └── </a:t>
            </a:r>
            <a:r>
              <a:rPr dirty="0" err="1"/>
              <a:t>BinOp</a:t>
            </a:r>
            <a:r>
              <a:rPr dirty="0"/>
              <a:t>: +</a:t>
            </a:r>
            <a:br>
              <a:rPr dirty="0"/>
            </a:br>
            <a:r>
              <a:rPr dirty="0"/>
              <a:t>            ├── Ident: a</a:t>
            </a:r>
            <a:br>
              <a:rPr dirty="0"/>
            </a:br>
            <a:r>
              <a:rPr dirty="0"/>
              <a:t>            └── </a:t>
            </a:r>
            <a:r>
              <a:rPr dirty="0" err="1"/>
              <a:t>BinOp</a:t>
            </a:r>
            <a:r>
              <a:rPr dirty="0"/>
              <a:t>: *</a:t>
            </a:r>
            <a:br>
              <a:rPr dirty="0"/>
            </a:br>
            <a:r>
              <a:rPr dirty="0"/>
              <a:t>                ├── Ident: b</a:t>
            </a:r>
            <a:br>
              <a:rPr dirty="0"/>
            </a:br>
            <a:r>
              <a:rPr dirty="0"/>
              <a:t>                └── </a:t>
            </a:r>
            <a:r>
              <a:rPr dirty="0" err="1"/>
              <a:t>IntLit</a:t>
            </a:r>
            <a:r>
              <a:rPr dirty="0"/>
              <a:t>: 2</a:t>
            </a:r>
            <a:br>
              <a:rPr dirty="0"/>
            </a:br>
            <a:br>
              <a:rPr dirty="0"/>
            </a:br>
            <a:br>
              <a:rPr dirty="0"/>
            </a:br>
            <a:r>
              <a:rPr dirty="0"/>
              <a:t>Key Insight:</a:t>
            </a:r>
            <a:br>
              <a:rPr dirty="0"/>
            </a:br>
            <a:r>
              <a:rPr dirty="0"/>
              <a:t>The AST preserves operator precedence —</a:t>
            </a:r>
            <a:br>
              <a:rPr dirty="0"/>
            </a:br>
            <a:r>
              <a:rPr dirty="0"/>
              <a:t>multiplication (* ) is deeper in the tree</a:t>
            </a:r>
            <a:br>
              <a:rPr dirty="0"/>
            </a:br>
            <a:r>
              <a:rPr dirty="0"/>
              <a:t>than addition (+), ensuring b * 2 is</a:t>
            </a:r>
            <a:br>
              <a:rPr dirty="0"/>
            </a:br>
            <a:r>
              <a:rPr dirty="0"/>
              <a:t>evaluated before a + (b *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Phase 4 — Symbol Table Management</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7 / 11</a:t>
            </a:r>
          </a:p>
        </p:txBody>
      </p:sp>
      <p:sp>
        <p:nvSpPr>
          <p:cNvPr id="7" name="TextBox 6"/>
          <p:cNvSpPr txBox="1"/>
          <p:nvPr/>
        </p:nvSpPr>
        <p:spPr>
          <a:xfrm>
            <a:off x="640080" y="1371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Scoped Stack Design</a:t>
            </a:r>
          </a:p>
        </p:txBody>
      </p:sp>
      <p:sp>
        <p:nvSpPr>
          <p:cNvPr id="8" name="TextBox 7"/>
          <p:cNvSpPr txBox="1"/>
          <p:nvPr/>
        </p:nvSpPr>
        <p:spPr>
          <a:xfrm>
            <a:off x="640080" y="1828800"/>
            <a:ext cx="5029200" cy="2011680"/>
          </a:xfrm>
          <a:prstGeom prst="rect">
            <a:avLst/>
          </a:prstGeom>
          <a:noFill/>
        </p:spPr>
        <p:txBody>
          <a:bodyPr wrap="square">
            <a:spAutoFit/>
          </a:bodyPr>
          <a:lstStyle/>
          <a:p>
            <a:pPr algn="l">
              <a:spcBef>
                <a:spcPts val="0"/>
              </a:spcBef>
              <a:spcAft>
                <a:spcPts val="600"/>
              </a:spcAft>
              <a:defRPr sz="1500" b="0" i="0">
                <a:solidFill>
                  <a:srgbClr val="374151"/>
                </a:solidFill>
                <a:latin typeface="Calibri"/>
              </a:defRPr>
            </a:pPr>
            <a:r>
              <a:t>•  Stack of scopes — each { } block pushes a new scope</a:t>
            </a:r>
          </a:p>
          <a:p>
            <a:pPr algn="l">
              <a:spcBef>
                <a:spcPts val="0"/>
              </a:spcBef>
              <a:spcAft>
                <a:spcPts val="600"/>
              </a:spcAft>
              <a:defRPr sz="1500" b="0" i="0">
                <a:solidFill>
                  <a:srgbClr val="374151"/>
                </a:solidFill>
                <a:latin typeface="Calibri"/>
              </a:defRPr>
            </a:pPr>
            <a:r>
              <a:t>•  Scope 0 is always the global scope</a:t>
            </a:r>
          </a:p>
          <a:p>
            <a:pPr algn="l">
              <a:spcBef>
                <a:spcPts val="0"/>
              </a:spcBef>
              <a:spcAft>
                <a:spcPts val="600"/>
              </a:spcAft>
              <a:defRPr sz="1500" b="0" i="0">
                <a:solidFill>
                  <a:srgbClr val="374151"/>
                </a:solidFill>
                <a:latin typeface="Calibri"/>
              </a:defRPr>
            </a:pPr>
            <a:r>
              <a:t>•  Closing } pops the current scope (variables go out of scope)</a:t>
            </a:r>
          </a:p>
          <a:p>
            <a:pPr algn="l">
              <a:spcBef>
                <a:spcPts val="0"/>
              </a:spcBef>
              <a:spcAft>
                <a:spcPts val="600"/>
              </a:spcAft>
              <a:defRPr sz="1500" b="0" i="0">
                <a:solidFill>
                  <a:srgbClr val="374151"/>
                </a:solidFill>
                <a:latin typeface="Calibri"/>
              </a:defRPr>
            </a:pPr>
            <a:r>
              <a:t>•  Lookup searches from innermost scope outward</a:t>
            </a:r>
          </a:p>
          <a:p>
            <a:pPr algn="l">
              <a:spcBef>
                <a:spcPts val="0"/>
              </a:spcBef>
              <a:spcAft>
                <a:spcPts val="600"/>
              </a:spcAft>
              <a:defRPr sz="1500" b="0" i="0">
                <a:solidFill>
                  <a:srgbClr val="374151"/>
                </a:solidFill>
                <a:latin typeface="Calibri"/>
              </a:defRPr>
            </a:pPr>
            <a:r>
              <a:t>•  Redeclaration in the SAME scope is an error</a:t>
            </a:r>
          </a:p>
          <a:p>
            <a:pPr algn="l">
              <a:spcBef>
                <a:spcPts val="0"/>
              </a:spcBef>
              <a:spcAft>
                <a:spcPts val="600"/>
              </a:spcAft>
              <a:defRPr sz="1500" b="0" i="0">
                <a:solidFill>
                  <a:srgbClr val="374151"/>
                </a:solidFill>
                <a:latin typeface="Calibri"/>
              </a:defRPr>
            </a:pPr>
            <a:r>
              <a:t>•  Same name in different scopes is allowed (shadowing)</a:t>
            </a:r>
          </a:p>
        </p:txBody>
      </p:sp>
      <p:sp>
        <p:nvSpPr>
          <p:cNvPr id="9" name="TextBox 8"/>
          <p:cNvSpPr txBox="1"/>
          <p:nvPr/>
        </p:nvSpPr>
        <p:spPr>
          <a:xfrm>
            <a:off x="640080" y="393192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Symbol Entry Fields</a:t>
            </a:r>
          </a:p>
        </p:txBody>
      </p:sp>
      <p:sp>
        <p:nvSpPr>
          <p:cNvPr id="10" name="TextBox 9"/>
          <p:cNvSpPr txBox="1"/>
          <p:nvPr/>
        </p:nvSpPr>
        <p:spPr>
          <a:xfrm>
            <a:off x="822960" y="4389120"/>
            <a:ext cx="1097280" cy="36576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Name</a:t>
            </a:r>
          </a:p>
        </p:txBody>
      </p:sp>
      <p:sp>
        <p:nvSpPr>
          <p:cNvPr id="11" name="TextBox 10"/>
          <p:cNvSpPr txBox="1"/>
          <p:nvPr/>
        </p:nvSpPr>
        <p:spPr>
          <a:xfrm>
            <a:off x="2011680" y="4389120"/>
            <a:ext cx="3657600" cy="365760"/>
          </a:xfrm>
          <a:prstGeom prst="rect">
            <a:avLst/>
          </a:prstGeom>
          <a:noFill/>
        </p:spPr>
        <p:txBody>
          <a:bodyPr wrap="square">
            <a:spAutoFit/>
          </a:bodyPr>
          <a:lstStyle/>
          <a:p>
            <a:pPr algn="l">
              <a:lnSpc>
                <a:spcPts val="1820"/>
              </a:lnSpc>
              <a:spcAft>
                <a:spcPts val="0"/>
              </a:spcAft>
              <a:defRPr sz="1400" b="0" i="0">
                <a:solidFill>
                  <a:srgbClr val="374151"/>
                </a:solidFill>
                <a:latin typeface="Calibri"/>
              </a:defRPr>
            </a:pPr>
            <a:r>
              <a:t>Variable identifier  (e.g., x, flag)</a:t>
            </a:r>
          </a:p>
        </p:txBody>
      </p:sp>
      <p:sp>
        <p:nvSpPr>
          <p:cNvPr id="12" name="TextBox 11"/>
          <p:cNvSpPr txBox="1"/>
          <p:nvPr/>
        </p:nvSpPr>
        <p:spPr>
          <a:xfrm>
            <a:off x="822960" y="4828032"/>
            <a:ext cx="1097280" cy="36576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Type</a:t>
            </a:r>
          </a:p>
        </p:txBody>
      </p:sp>
      <p:sp>
        <p:nvSpPr>
          <p:cNvPr id="13" name="TextBox 12"/>
          <p:cNvSpPr txBox="1"/>
          <p:nvPr/>
        </p:nvSpPr>
        <p:spPr>
          <a:xfrm>
            <a:off x="2011680" y="4828032"/>
            <a:ext cx="3657600" cy="365760"/>
          </a:xfrm>
          <a:prstGeom prst="rect">
            <a:avLst/>
          </a:prstGeom>
          <a:noFill/>
        </p:spPr>
        <p:txBody>
          <a:bodyPr wrap="square">
            <a:spAutoFit/>
          </a:bodyPr>
          <a:lstStyle/>
          <a:p>
            <a:pPr algn="l">
              <a:lnSpc>
                <a:spcPts val="1820"/>
              </a:lnSpc>
              <a:spcAft>
                <a:spcPts val="0"/>
              </a:spcAft>
              <a:defRPr sz="1400" b="0" i="0">
                <a:solidFill>
                  <a:srgbClr val="374151"/>
                </a:solidFill>
                <a:latin typeface="Calibri"/>
              </a:defRPr>
            </a:pPr>
            <a:r>
              <a:t>Data type  (int, float, bool)</a:t>
            </a:r>
          </a:p>
        </p:txBody>
      </p:sp>
      <p:sp>
        <p:nvSpPr>
          <p:cNvPr id="14" name="TextBox 13"/>
          <p:cNvSpPr txBox="1"/>
          <p:nvPr/>
        </p:nvSpPr>
        <p:spPr>
          <a:xfrm>
            <a:off x="822960" y="5266944"/>
            <a:ext cx="1097280" cy="36576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Scope</a:t>
            </a:r>
          </a:p>
        </p:txBody>
      </p:sp>
      <p:sp>
        <p:nvSpPr>
          <p:cNvPr id="15" name="TextBox 14"/>
          <p:cNvSpPr txBox="1"/>
          <p:nvPr/>
        </p:nvSpPr>
        <p:spPr>
          <a:xfrm>
            <a:off x="2011680" y="5266944"/>
            <a:ext cx="3657600" cy="365760"/>
          </a:xfrm>
          <a:prstGeom prst="rect">
            <a:avLst/>
          </a:prstGeom>
          <a:noFill/>
        </p:spPr>
        <p:txBody>
          <a:bodyPr wrap="square">
            <a:spAutoFit/>
          </a:bodyPr>
          <a:lstStyle/>
          <a:p>
            <a:pPr algn="l">
              <a:lnSpc>
                <a:spcPts val="1820"/>
              </a:lnSpc>
              <a:spcAft>
                <a:spcPts val="0"/>
              </a:spcAft>
              <a:defRPr sz="1400" b="0" i="0">
                <a:solidFill>
                  <a:srgbClr val="374151"/>
                </a:solidFill>
                <a:latin typeface="Calibri"/>
              </a:defRPr>
            </a:pPr>
            <a:r>
              <a:t>Nesting level  (0 = global, 1 = first block, ...)</a:t>
            </a:r>
          </a:p>
        </p:txBody>
      </p:sp>
      <p:sp>
        <p:nvSpPr>
          <p:cNvPr id="16" name="TextBox 15"/>
          <p:cNvSpPr txBox="1"/>
          <p:nvPr/>
        </p:nvSpPr>
        <p:spPr>
          <a:xfrm>
            <a:off x="822960" y="5705856"/>
            <a:ext cx="1097280" cy="365760"/>
          </a:xfrm>
          <a:prstGeom prst="rect">
            <a:avLst/>
          </a:prstGeom>
          <a:noFill/>
        </p:spPr>
        <p:txBody>
          <a:bodyPr wrap="square">
            <a:spAutoFit/>
          </a:bodyPr>
          <a:lstStyle/>
          <a:p>
            <a:pPr algn="l">
              <a:lnSpc>
                <a:spcPts val="1950"/>
              </a:lnSpc>
              <a:spcAft>
                <a:spcPts val="0"/>
              </a:spcAft>
              <a:defRPr sz="1500" b="1" i="0">
                <a:solidFill>
                  <a:srgbClr val="2E5EAA"/>
                </a:solidFill>
                <a:latin typeface="Calibri"/>
              </a:defRPr>
            </a:pPr>
            <a:r>
              <a:t>Line</a:t>
            </a:r>
          </a:p>
        </p:txBody>
      </p:sp>
      <p:sp>
        <p:nvSpPr>
          <p:cNvPr id="17" name="TextBox 16"/>
          <p:cNvSpPr txBox="1"/>
          <p:nvPr/>
        </p:nvSpPr>
        <p:spPr>
          <a:xfrm>
            <a:off x="2011680" y="5705856"/>
            <a:ext cx="3657600" cy="365760"/>
          </a:xfrm>
          <a:prstGeom prst="rect">
            <a:avLst/>
          </a:prstGeom>
          <a:noFill/>
        </p:spPr>
        <p:txBody>
          <a:bodyPr wrap="square">
            <a:spAutoFit/>
          </a:bodyPr>
          <a:lstStyle/>
          <a:p>
            <a:pPr algn="l">
              <a:lnSpc>
                <a:spcPts val="1820"/>
              </a:lnSpc>
              <a:spcAft>
                <a:spcPts val="0"/>
              </a:spcAft>
              <a:defRPr sz="1400" b="0" i="0">
                <a:solidFill>
                  <a:srgbClr val="374151"/>
                </a:solidFill>
                <a:latin typeface="Calibri"/>
              </a:defRPr>
            </a:pPr>
            <a:r>
              <a:t>Line number where declared</a:t>
            </a:r>
          </a:p>
        </p:txBody>
      </p:sp>
      <p:sp>
        <p:nvSpPr>
          <p:cNvPr id="18" name="TextBox 17"/>
          <p:cNvSpPr txBox="1"/>
          <p:nvPr/>
        </p:nvSpPr>
        <p:spPr>
          <a:xfrm>
            <a:off x="6400800" y="1371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Example: Symbol Table Output</a:t>
            </a:r>
          </a:p>
        </p:txBody>
      </p:sp>
      <p:sp>
        <p:nvSpPr>
          <p:cNvPr id="19" name="Rounded Rectangle 18"/>
          <p:cNvSpPr/>
          <p:nvPr/>
        </p:nvSpPr>
        <p:spPr>
          <a:xfrm>
            <a:off x="6400800" y="1920240"/>
            <a:ext cx="5029200" cy="40233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88075" y="2377440"/>
            <a:ext cx="4572000" cy="3840480"/>
          </a:xfrm>
          <a:prstGeom prst="rect">
            <a:avLst/>
          </a:prstGeom>
          <a:noFill/>
        </p:spPr>
        <p:txBody>
          <a:bodyPr wrap="square">
            <a:spAutoFit/>
          </a:bodyPr>
          <a:lstStyle/>
          <a:p>
            <a:pPr algn="l">
              <a:lnSpc>
                <a:spcPts val="1439"/>
              </a:lnSpc>
              <a:spcAft>
                <a:spcPts val="0"/>
              </a:spcAft>
              <a:defRPr sz="1200" b="0" i="0">
                <a:solidFill>
                  <a:srgbClr val="374151"/>
                </a:solidFill>
                <a:latin typeface="Consolas"/>
              </a:defRPr>
            </a:pPr>
            <a:r>
              <a:rPr dirty="0"/>
              <a:t>========== SYMBOL TABLE ==========</a:t>
            </a:r>
            <a:br>
              <a:rPr dirty="0"/>
            </a:br>
            <a:br>
              <a:rPr dirty="0"/>
            </a:br>
            <a:r>
              <a:rPr dirty="0"/>
              <a:t>Scope 0 (Global):</a:t>
            </a:r>
            <a:br>
              <a:rPr dirty="0"/>
            </a:br>
            <a:r>
              <a:rPr dirty="0"/>
              <a:t>  Name: x       Type: int    Line: 7</a:t>
            </a:r>
            <a:br>
              <a:rPr dirty="0"/>
            </a:br>
            <a:r>
              <a:rPr dirty="0"/>
              <a:t>  Name: y       Type: int    Line: 8</a:t>
            </a:r>
            <a:br>
              <a:rPr dirty="0"/>
            </a:br>
            <a:r>
              <a:rPr dirty="0"/>
              <a:t>  Name: flag    Type: bool   Line: 9</a:t>
            </a:r>
            <a:br>
              <a:rPr dirty="0"/>
            </a:br>
            <a:r>
              <a:rPr dirty="0"/>
              <a:t>  Name: rate    Type: float  Line: 10</a:t>
            </a:r>
            <a:br>
              <a:rPr dirty="0"/>
            </a:br>
            <a:r>
              <a:rPr dirty="0"/>
              <a:t>  Name: </a:t>
            </a:r>
            <a:r>
              <a:rPr dirty="0" err="1"/>
              <a:t>i</a:t>
            </a:r>
            <a:r>
              <a:rPr dirty="0"/>
              <a:t>       Type: int    Line: 35</a:t>
            </a:r>
            <a:br>
              <a:rPr dirty="0"/>
            </a:br>
            <a:r>
              <a:rPr dirty="0"/>
              <a:t>  Name: result  Type: int    Line: 36</a:t>
            </a:r>
            <a:br>
              <a:rPr dirty="0"/>
            </a:br>
            <a:br>
              <a:rPr dirty="0"/>
            </a:br>
            <a:r>
              <a:rPr dirty="0"/>
              <a:t>Scope 1 (While Block):</a:t>
            </a:r>
            <a:br>
              <a:rPr dirty="0"/>
            </a:br>
            <a:r>
              <a:rPr dirty="0"/>
              <a:t>  Name: temp    Type: int    Line: 22</a:t>
            </a:r>
            <a:br>
              <a:rPr dirty="0"/>
            </a:br>
            <a:br>
              <a:rPr dirty="0"/>
            </a:br>
            <a:r>
              <a:rPr dirty="0"/>
              <a:t>Note: 'temp' is only visible inside the</a:t>
            </a:r>
            <a:br>
              <a:rPr dirty="0"/>
            </a:br>
            <a:r>
              <a:rPr dirty="0"/>
              <a:t>while block — accessing it outside would</a:t>
            </a:r>
            <a:br>
              <a:rPr dirty="0"/>
            </a:br>
            <a:r>
              <a:rPr dirty="0"/>
              <a:t>trigger a semantic error.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Phase 5 — Semantic Analysis</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8 / 11</a:t>
            </a:r>
          </a:p>
        </p:txBody>
      </p:sp>
      <p:sp>
        <p:nvSpPr>
          <p:cNvPr id="7" name="TextBox 6"/>
          <p:cNvSpPr txBox="1"/>
          <p:nvPr/>
        </p:nvSpPr>
        <p:spPr>
          <a:xfrm>
            <a:off x="640080" y="1371600"/>
            <a:ext cx="10058400" cy="457200"/>
          </a:xfrm>
          <a:prstGeom prst="rect">
            <a:avLst/>
          </a:prstGeom>
          <a:noFill/>
        </p:spPr>
        <p:txBody>
          <a:bodyPr wrap="square">
            <a:spAutoFit/>
          </a:bodyPr>
          <a:lstStyle/>
          <a:p>
            <a:pPr algn="ctr">
              <a:lnSpc>
                <a:spcPts val="2080"/>
              </a:lnSpc>
              <a:spcAft>
                <a:spcPts val="0"/>
              </a:spcAft>
              <a:defRPr sz="1600" b="0" i="1">
                <a:solidFill>
                  <a:srgbClr val="6B7280"/>
                </a:solidFill>
                <a:latin typeface="Calibri"/>
              </a:defRPr>
            </a:pPr>
            <a:r>
              <a:t>"Syntax tells you the sentence is grammatically correct. Semantics tells you it makes sense."</a:t>
            </a:r>
          </a:p>
        </p:txBody>
      </p:sp>
      <p:sp>
        <p:nvSpPr>
          <p:cNvPr id="8" name="Rounded Rectangle 7"/>
          <p:cNvSpPr/>
          <p:nvPr/>
        </p:nvSpPr>
        <p:spPr>
          <a:xfrm>
            <a:off x="457200" y="2011680"/>
            <a:ext cx="2651760" cy="41148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01004" y="2194560"/>
            <a:ext cx="54864" cy="274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1870" y="2189644"/>
            <a:ext cx="2194560" cy="320040"/>
          </a:xfrm>
          <a:prstGeom prst="rect">
            <a:avLst/>
          </a:prstGeom>
          <a:noFill/>
        </p:spPr>
        <p:txBody>
          <a:bodyPr wrap="square">
            <a:spAutoFit/>
          </a:bodyPr>
          <a:lstStyle/>
          <a:p>
            <a:pPr algn="l">
              <a:lnSpc>
                <a:spcPts val="1950"/>
              </a:lnSpc>
              <a:spcAft>
                <a:spcPts val="0"/>
              </a:spcAft>
              <a:defRPr sz="1500" b="1" i="0">
                <a:solidFill>
                  <a:srgbClr val="1B2A4A"/>
                </a:solidFill>
                <a:latin typeface="Calibri"/>
              </a:defRPr>
            </a:pPr>
            <a:r>
              <a:rPr dirty="0"/>
              <a:t>Undeclared Variable</a:t>
            </a:r>
          </a:p>
        </p:txBody>
      </p:sp>
      <p:sp>
        <p:nvSpPr>
          <p:cNvPr id="11" name="TextBox 10"/>
          <p:cNvSpPr txBox="1"/>
          <p:nvPr/>
        </p:nvSpPr>
        <p:spPr>
          <a:xfrm>
            <a:off x="640080" y="2514600"/>
            <a:ext cx="2286000" cy="320040"/>
          </a:xfrm>
          <a:prstGeom prst="rect">
            <a:avLst/>
          </a:prstGeom>
          <a:noFill/>
        </p:spPr>
        <p:txBody>
          <a:bodyPr wrap="square">
            <a:spAutoFit/>
          </a:bodyPr>
          <a:lstStyle/>
          <a:p>
            <a:pPr algn="l">
              <a:lnSpc>
                <a:spcPts val="1560"/>
              </a:lnSpc>
              <a:spcAft>
                <a:spcPts val="0"/>
              </a:spcAft>
              <a:defRPr sz="1200" b="0" i="1">
                <a:solidFill>
                  <a:srgbClr val="6B7280"/>
                </a:solidFill>
                <a:latin typeface="Calibri"/>
              </a:defRPr>
            </a:pPr>
            <a:r>
              <a:t>Using a variable before declaring it</a:t>
            </a:r>
          </a:p>
        </p:txBody>
      </p:sp>
      <p:sp>
        <p:nvSpPr>
          <p:cNvPr id="12" name="Rounded Rectangle 11"/>
          <p:cNvSpPr/>
          <p:nvPr/>
        </p:nvSpPr>
        <p:spPr>
          <a:xfrm>
            <a:off x="594360" y="2926080"/>
            <a:ext cx="2377440" cy="12801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971800"/>
            <a:ext cx="2194560" cy="1188720"/>
          </a:xfrm>
          <a:prstGeom prst="rect">
            <a:avLst/>
          </a:prstGeom>
          <a:noFill/>
        </p:spPr>
        <p:txBody>
          <a:bodyPr wrap="square">
            <a:spAutoFit/>
          </a:bodyPr>
          <a:lstStyle/>
          <a:p>
            <a:pPr algn="l">
              <a:lnSpc>
                <a:spcPts val="1150"/>
              </a:lnSpc>
              <a:spcAft>
                <a:spcPts val="0"/>
              </a:spcAft>
              <a:defRPr sz="1000" b="0" i="0">
                <a:solidFill>
                  <a:srgbClr val="374151"/>
                </a:solidFill>
                <a:latin typeface="Consolas"/>
              </a:defRPr>
            </a:pPr>
            <a:r>
              <a:t>y = 20;     // ERROR</a:t>
            </a:r>
            <a:br/>
            <a:r>
              <a:t>// "y" used before declaration</a:t>
            </a:r>
          </a:p>
        </p:txBody>
      </p:sp>
      <p:sp>
        <p:nvSpPr>
          <p:cNvPr id="14" name="Rounded Rectangle 13"/>
          <p:cNvSpPr/>
          <p:nvPr/>
        </p:nvSpPr>
        <p:spPr>
          <a:xfrm>
            <a:off x="594360" y="4389120"/>
            <a:ext cx="2377440" cy="10972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7521" y="4343400"/>
            <a:ext cx="2286000" cy="228600"/>
          </a:xfrm>
          <a:prstGeom prst="rect">
            <a:avLst/>
          </a:prstGeom>
          <a:noFill/>
        </p:spPr>
        <p:txBody>
          <a:bodyPr wrap="square">
            <a:spAutoFit/>
          </a:bodyPr>
          <a:lstStyle/>
          <a:p>
            <a:pPr algn="l">
              <a:lnSpc>
                <a:spcPts val="1300"/>
              </a:lnSpc>
              <a:spcAft>
                <a:spcPts val="0"/>
              </a:spcAft>
              <a:defRPr sz="1000" b="1" i="0">
                <a:solidFill>
                  <a:srgbClr val="EF4444"/>
                </a:solidFill>
                <a:latin typeface="Calibri"/>
              </a:defRPr>
            </a:pPr>
            <a:r>
              <a:rPr dirty="0"/>
              <a:t>⚠ Compiler Output:</a:t>
            </a:r>
          </a:p>
        </p:txBody>
      </p:sp>
      <p:sp>
        <p:nvSpPr>
          <p:cNvPr id="16" name="TextBox 15"/>
          <p:cNvSpPr txBox="1"/>
          <p:nvPr/>
        </p:nvSpPr>
        <p:spPr>
          <a:xfrm>
            <a:off x="685800" y="4572000"/>
            <a:ext cx="2194560" cy="822960"/>
          </a:xfrm>
          <a:prstGeom prst="rect">
            <a:avLst/>
          </a:prstGeom>
          <a:noFill/>
        </p:spPr>
        <p:txBody>
          <a:bodyPr wrap="square">
            <a:spAutoFit/>
          </a:bodyPr>
          <a:lstStyle/>
          <a:p>
            <a:pPr algn="l">
              <a:lnSpc>
                <a:spcPts val="1150"/>
              </a:lnSpc>
              <a:spcAft>
                <a:spcPts val="0"/>
              </a:spcAft>
              <a:defRPr sz="1000" b="0" i="0">
                <a:solidFill>
                  <a:srgbClr val="EF4444"/>
                </a:solidFill>
                <a:latin typeface="Consolas"/>
              </a:defRPr>
            </a:pPr>
            <a:r>
              <a:t>Semantic Error [Line 8]:</a:t>
            </a:r>
            <a:br/>
            <a:r>
              <a:t>Variable 'y' used before</a:t>
            </a:r>
            <a:br/>
            <a:r>
              <a:t>declaration</a:t>
            </a:r>
          </a:p>
        </p:txBody>
      </p:sp>
      <p:sp>
        <p:nvSpPr>
          <p:cNvPr id="17" name="Rounded Rectangle 16"/>
          <p:cNvSpPr/>
          <p:nvPr/>
        </p:nvSpPr>
        <p:spPr>
          <a:xfrm>
            <a:off x="3291840" y="2011680"/>
            <a:ext cx="2651760" cy="41148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829050" y="2212504"/>
            <a:ext cx="54864" cy="274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99916" y="2171700"/>
            <a:ext cx="2194560" cy="320040"/>
          </a:xfrm>
          <a:prstGeom prst="rect">
            <a:avLst/>
          </a:prstGeom>
          <a:noFill/>
        </p:spPr>
        <p:txBody>
          <a:bodyPr wrap="square">
            <a:spAutoFit/>
          </a:bodyPr>
          <a:lstStyle/>
          <a:p>
            <a:pPr algn="l">
              <a:lnSpc>
                <a:spcPts val="1950"/>
              </a:lnSpc>
              <a:spcAft>
                <a:spcPts val="0"/>
              </a:spcAft>
              <a:defRPr sz="1500" b="1" i="0">
                <a:solidFill>
                  <a:srgbClr val="1B2A4A"/>
                </a:solidFill>
                <a:latin typeface="Calibri"/>
              </a:defRPr>
            </a:pPr>
            <a:r>
              <a:rPr dirty="0"/>
              <a:t>Type Mismatch</a:t>
            </a:r>
          </a:p>
        </p:txBody>
      </p:sp>
      <p:sp>
        <p:nvSpPr>
          <p:cNvPr id="20" name="TextBox 19"/>
          <p:cNvSpPr txBox="1"/>
          <p:nvPr/>
        </p:nvSpPr>
        <p:spPr>
          <a:xfrm>
            <a:off x="3474720" y="2514600"/>
            <a:ext cx="2286000" cy="320040"/>
          </a:xfrm>
          <a:prstGeom prst="rect">
            <a:avLst/>
          </a:prstGeom>
          <a:noFill/>
        </p:spPr>
        <p:txBody>
          <a:bodyPr wrap="square">
            <a:spAutoFit/>
          </a:bodyPr>
          <a:lstStyle/>
          <a:p>
            <a:pPr algn="l">
              <a:lnSpc>
                <a:spcPts val="1560"/>
              </a:lnSpc>
              <a:spcAft>
                <a:spcPts val="0"/>
              </a:spcAft>
              <a:defRPr sz="1200" b="0" i="1">
                <a:solidFill>
                  <a:srgbClr val="6B7280"/>
                </a:solidFill>
                <a:latin typeface="Calibri"/>
              </a:defRPr>
            </a:pPr>
            <a:r>
              <a:t>Assigning incompatible types</a:t>
            </a:r>
          </a:p>
        </p:txBody>
      </p:sp>
      <p:sp>
        <p:nvSpPr>
          <p:cNvPr id="21" name="Rounded Rectangle 20"/>
          <p:cNvSpPr/>
          <p:nvPr/>
        </p:nvSpPr>
        <p:spPr>
          <a:xfrm>
            <a:off x="3429000" y="2926080"/>
            <a:ext cx="2377440" cy="12801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20440" y="2971800"/>
            <a:ext cx="2194560" cy="1188720"/>
          </a:xfrm>
          <a:prstGeom prst="rect">
            <a:avLst/>
          </a:prstGeom>
          <a:noFill/>
        </p:spPr>
        <p:txBody>
          <a:bodyPr wrap="square">
            <a:spAutoFit/>
          </a:bodyPr>
          <a:lstStyle/>
          <a:p>
            <a:pPr algn="l">
              <a:lnSpc>
                <a:spcPts val="1150"/>
              </a:lnSpc>
              <a:spcAft>
                <a:spcPts val="0"/>
              </a:spcAft>
              <a:defRPr sz="1000" b="0" i="0">
                <a:solidFill>
                  <a:srgbClr val="374151"/>
                </a:solidFill>
                <a:latin typeface="Consolas"/>
              </a:defRPr>
            </a:pPr>
            <a:r>
              <a:t>bool flag;</a:t>
            </a:r>
            <a:br/>
            <a:r>
              <a:t>flag = 5 + 3; // ERROR</a:t>
            </a:r>
            <a:br/>
            <a:r>
              <a:t>// int expr → bool var</a:t>
            </a:r>
          </a:p>
        </p:txBody>
      </p:sp>
      <p:sp>
        <p:nvSpPr>
          <p:cNvPr id="23" name="Rounded Rectangle 22"/>
          <p:cNvSpPr/>
          <p:nvPr/>
        </p:nvSpPr>
        <p:spPr>
          <a:xfrm>
            <a:off x="3429000" y="4389120"/>
            <a:ext cx="2377440" cy="10972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43300" y="4382336"/>
            <a:ext cx="2286000" cy="228600"/>
          </a:xfrm>
          <a:prstGeom prst="rect">
            <a:avLst/>
          </a:prstGeom>
          <a:noFill/>
        </p:spPr>
        <p:txBody>
          <a:bodyPr wrap="square">
            <a:spAutoFit/>
          </a:bodyPr>
          <a:lstStyle/>
          <a:p>
            <a:pPr algn="l">
              <a:lnSpc>
                <a:spcPts val="1300"/>
              </a:lnSpc>
              <a:spcAft>
                <a:spcPts val="0"/>
              </a:spcAft>
              <a:defRPr sz="1000" b="1" i="0">
                <a:solidFill>
                  <a:srgbClr val="EF4444"/>
                </a:solidFill>
                <a:latin typeface="Calibri"/>
              </a:defRPr>
            </a:pPr>
            <a:r>
              <a:rPr dirty="0"/>
              <a:t>⚠ Compiler Output:</a:t>
            </a:r>
          </a:p>
        </p:txBody>
      </p:sp>
      <p:sp>
        <p:nvSpPr>
          <p:cNvPr id="25" name="TextBox 24"/>
          <p:cNvSpPr txBox="1"/>
          <p:nvPr/>
        </p:nvSpPr>
        <p:spPr>
          <a:xfrm>
            <a:off x="3520440" y="4572000"/>
            <a:ext cx="2194560" cy="822960"/>
          </a:xfrm>
          <a:prstGeom prst="rect">
            <a:avLst/>
          </a:prstGeom>
          <a:noFill/>
        </p:spPr>
        <p:txBody>
          <a:bodyPr wrap="square">
            <a:spAutoFit/>
          </a:bodyPr>
          <a:lstStyle/>
          <a:p>
            <a:pPr algn="l">
              <a:lnSpc>
                <a:spcPts val="1150"/>
              </a:lnSpc>
              <a:spcAft>
                <a:spcPts val="0"/>
              </a:spcAft>
              <a:defRPr sz="1000" b="0" i="0">
                <a:solidFill>
                  <a:srgbClr val="EF4444"/>
                </a:solidFill>
                <a:latin typeface="Consolas"/>
              </a:defRPr>
            </a:pPr>
            <a:r>
              <a:t>Semantic Error [Line 16]:</a:t>
            </a:r>
            <a:br/>
            <a:r>
              <a:t>Type mismatch in assignment</a:t>
            </a:r>
            <a:br/>
            <a:r>
              <a:t>to 'flag'</a:t>
            </a:r>
          </a:p>
        </p:txBody>
      </p:sp>
      <p:sp>
        <p:nvSpPr>
          <p:cNvPr id="26" name="Rounded Rectangle 25"/>
          <p:cNvSpPr/>
          <p:nvPr/>
        </p:nvSpPr>
        <p:spPr>
          <a:xfrm>
            <a:off x="6126480" y="2011680"/>
            <a:ext cx="2651760" cy="41148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16852" y="2194560"/>
            <a:ext cx="54864"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03720" y="2177108"/>
            <a:ext cx="2194560" cy="320040"/>
          </a:xfrm>
          <a:prstGeom prst="rect">
            <a:avLst/>
          </a:prstGeom>
          <a:noFill/>
        </p:spPr>
        <p:txBody>
          <a:bodyPr wrap="square">
            <a:spAutoFit/>
          </a:bodyPr>
          <a:lstStyle/>
          <a:p>
            <a:pPr algn="l">
              <a:lnSpc>
                <a:spcPts val="1950"/>
              </a:lnSpc>
              <a:spcAft>
                <a:spcPts val="0"/>
              </a:spcAft>
              <a:defRPr sz="1500" b="1" i="0">
                <a:solidFill>
                  <a:srgbClr val="1B2A4A"/>
                </a:solidFill>
                <a:latin typeface="Calibri"/>
              </a:defRPr>
            </a:pPr>
            <a:r>
              <a:t>Lexical Error</a:t>
            </a:r>
          </a:p>
        </p:txBody>
      </p:sp>
      <p:sp>
        <p:nvSpPr>
          <p:cNvPr id="29" name="TextBox 28"/>
          <p:cNvSpPr txBox="1"/>
          <p:nvPr/>
        </p:nvSpPr>
        <p:spPr>
          <a:xfrm>
            <a:off x="6309360" y="2514600"/>
            <a:ext cx="2286000" cy="320040"/>
          </a:xfrm>
          <a:prstGeom prst="rect">
            <a:avLst/>
          </a:prstGeom>
          <a:noFill/>
        </p:spPr>
        <p:txBody>
          <a:bodyPr wrap="square">
            <a:spAutoFit/>
          </a:bodyPr>
          <a:lstStyle/>
          <a:p>
            <a:pPr algn="l">
              <a:lnSpc>
                <a:spcPts val="1560"/>
              </a:lnSpc>
              <a:spcAft>
                <a:spcPts val="0"/>
              </a:spcAft>
              <a:defRPr sz="1200" b="0" i="1">
                <a:solidFill>
                  <a:srgbClr val="6B7280"/>
                </a:solidFill>
                <a:latin typeface="Calibri"/>
              </a:defRPr>
            </a:pPr>
            <a:r>
              <a:t>Invalid character in source</a:t>
            </a:r>
          </a:p>
        </p:txBody>
      </p:sp>
      <p:sp>
        <p:nvSpPr>
          <p:cNvPr id="30" name="Rounded Rectangle 29"/>
          <p:cNvSpPr/>
          <p:nvPr/>
        </p:nvSpPr>
        <p:spPr>
          <a:xfrm>
            <a:off x="6263640" y="2926080"/>
            <a:ext cx="2377440" cy="12801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2971800"/>
            <a:ext cx="2194560" cy="1188720"/>
          </a:xfrm>
          <a:prstGeom prst="rect">
            <a:avLst/>
          </a:prstGeom>
          <a:noFill/>
        </p:spPr>
        <p:txBody>
          <a:bodyPr wrap="square">
            <a:spAutoFit/>
          </a:bodyPr>
          <a:lstStyle/>
          <a:p>
            <a:pPr algn="l">
              <a:lnSpc>
                <a:spcPts val="1150"/>
              </a:lnSpc>
              <a:spcAft>
                <a:spcPts val="0"/>
              </a:spcAft>
              <a:defRPr sz="1000" b="0" i="0">
                <a:solidFill>
                  <a:srgbClr val="374151"/>
                </a:solidFill>
                <a:latin typeface="Consolas"/>
              </a:defRPr>
            </a:pPr>
            <a:r>
              <a:t>@ invalid_token;</a:t>
            </a:r>
            <a:br/>
            <a:r>
              <a:t>// "@" is not recognized</a:t>
            </a:r>
          </a:p>
        </p:txBody>
      </p:sp>
      <p:sp>
        <p:nvSpPr>
          <p:cNvPr id="32" name="Rounded Rectangle 31"/>
          <p:cNvSpPr/>
          <p:nvPr/>
        </p:nvSpPr>
        <p:spPr>
          <a:xfrm>
            <a:off x="6263640" y="4389120"/>
            <a:ext cx="2377440" cy="10972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18504" y="4366260"/>
            <a:ext cx="2286000" cy="228600"/>
          </a:xfrm>
          <a:prstGeom prst="rect">
            <a:avLst/>
          </a:prstGeom>
          <a:noFill/>
        </p:spPr>
        <p:txBody>
          <a:bodyPr wrap="square">
            <a:spAutoFit/>
          </a:bodyPr>
          <a:lstStyle/>
          <a:p>
            <a:pPr algn="l">
              <a:lnSpc>
                <a:spcPts val="1300"/>
              </a:lnSpc>
              <a:spcAft>
                <a:spcPts val="0"/>
              </a:spcAft>
              <a:defRPr sz="1000" b="1" i="0">
                <a:solidFill>
                  <a:srgbClr val="EF4444"/>
                </a:solidFill>
                <a:latin typeface="Calibri"/>
              </a:defRPr>
            </a:pPr>
            <a:r>
              <a:t>⚠ Compiler Output:</a:t>
            </a:r>
          </a:p>
        </p:txBody>
      </p:sp>
      <p:sp>
        <p:nvSpPr>
          <p:cNvPr id="34" name="TextBox 33"/>
          <p:cNvSpPr txBox="1"/>
          <p:nvPr/>
        </p:nvSpPr>
        <p:spPr>
          <a:xfrm>
            <a:off x="6355080" y="4572000"/>
            <a:ext cx="2194560" cy="822960"/>
          </a:xfrm>
          <a:prstGeom prst="rect">
            <a:avLst/>
          </a:prstGeom>
          <a:noFill/>
        </p:spPr>
        <p:txBody>
          <a:bodyPr wrap="square">
            <a:spAutoFit/>
          </a:bodyPr>
          <a:lstStyle/>
          <a:p>
            <a:pPr algn="l">
              <a:lnSpc>
                <a:spcPts val="1150"/>
              </a:lnSpc>
              <a:spcAft>
                <a:spcPts val="0"/>
              </a:spcAft>
              <a:defRPr sz="1000" b="0" i="0">
                <a:solidFill>
                  <a:srgbClr val="EF4444"/>
                </a:solidFill>
                <a:latin typeface="Consolas"/>
              </a:defRPr>
            </a:pPr>
            <a:r>
              <a:t>Lexical Error [Line 24]:</a:t>
            </a:r>
            <a:br/>
            <a:r>
              <a:t>Invalid token '@'</a:t>
            </a:r>
          </a:p>
        </p:txBody>
      </p:sp>
      <p:sp>
        <p:nvSpPr>
          <p:cNvPr id="35" name="Rounded Rectangle 34"/>
          <p:cNvSpPr/>
          <p:nvPr/>
        </p:nvSpPr>
        <p:spPr>
          <a:xfrm>
            <a:off x="8961120" y="2011680"/>
            <a:ext cx="2651760" cy="4114800"/>
          </a:xfrm>
          <a:prstGeom prst="roundRect">
            <a:avLst/>
          </a:prstGeom>
          <a:solidFill>
            <a:srgbClr val="FFFFFF"/>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628632" y="2194560"/>
            <a:ext cx="54864"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92640" y="2160393"/>
            <a:ext cx="2194560" cy="320040"/>
          </a:xfrm>
          <a:prstGeom prst="rect">
            <a:avLst/>
          </a:prstGeom>
          <a:noFill/>
        </p:spPr>
        <p:txBody>
          <a:bodyPr wrap="square">
            <a:spAutoFit/>
          </a:bodyPr>
          <a:lstStyle/>
          <a:p>
            <a:pPr algn="l">
              <a:lnSpc>
                <a:spcPts val="1950"/>
              </a:lnSpc>
              <a:spcAft>
                <a:spcPts val="0"/>
              </a:spcAft>
              <a:defRPr sz="1500" b="1" i="0">
                <a:solidFill>
                  <a:srgbClr val="1B2A4A"/>
                </a:solidFill>
                <a:latin typeface="Calibri"/>
              </a:defRPr>
            </a:pPr>
            <a:r>
              <a:t>Syntax Error</a:t>
            </a:r>
          </a:p>
        </p:txBody>
      </p:sp>
      <p:sp>
        <p:nvSpPr>
          <p:cNvPr id="38" name="TextBox 37"/>
          <p:cNvSpPr txBox="1"/>
          <p:nvPr/>
        </p:nvSpPr>
        <p:spPr>
          <a:xfrm>
            <a:off x="9144000" y="2514600"/>
            <a:ext cx="2286000" cy="320040"/>
          </a:xfrm>
          <a:prstGeom prst="rect">
            <a:avLst/>
          </a:prstGeom>
          <a:noFill/>
        </p:spPr>
        <p:txBody>
          <a:bodyPr wrap="square">
            <a:spAutoFit/>
          </a:bodyPr>
          <a:lstStyle/>
          <a:p>
            <a:pPr algn="l">
              <a:lnSpc>
                <a:spcPts val="1560"/>
              </a:lnSpc>
              <a:spcAft>
                <a:spcPts val="0"/>
              </a:spcAft>
              <a:defRPr sz="1200" b="0" i="1">
                <a:solidFill>
                  <a:srgbClr val="6B7280"/>
                </a:solidFill>
                <a:latin typeface="Calibri"/>
              </a:defRPr>
            </a:pPr>
            <a:r>
              <a:t>Malformed statement structure</a:t>
            </a:r>
          </a:p>
        </p:txBody>
      </p:sp>
      <p:sp>
        <p:nvSpPr>
          <p:cNvPr id="39" name="Rounded Rectangle 38"/>
          <p:cNvSpPr/>
          <p:nvPr/>
        </p:nvSpPr>
        <p:spPr>
          <a:xfrm>
            <a:off x="9098280" y="2926080"/>
            <a:ext cx="2377440" cy="128016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89720" y="2971800"/>
            <a:ext cx="2194560" cy="1188720"/>
          </a:xfrm>
          <a:prstGeom prst="rect">
            <a:avLst/>
          </a:prstGeom>
          <a:noFill/>
        </p:spPr>
        <p:txBody>
          <a:bodyPr wrap="square">
            <a:spAutoFit/>
          </a:bodyPr>
          <a:lstStyle/>
          <a:p>
            <a:pPr algn="l">
              <a:lnSpc>
                <a:spcPts val="1150"/>
              </a:lnSpc>
              <a:spcAft>
                <a:spcPts val="0"/>
              </a:spcAft>
              <a:defRPr sz="1000" b="0" i="0">
                <a:solidFill>
                  <a:srgbClr val="374151"/>
                </a:solidFill>
                <a:latin typeface="Consolas"/>
              </a:defRPr>
            </a:pPr>
            <a:r>
              <a:t>if (x &gt; 0 {</a:t>
            </a:r>
            <a:br/>
            <a:r>
              <a:t>// Missing closing ")"</a:t>
            </a:r>
          </a:p>
        </p:txBody>
      </p:sp>
      <p:sp>
        <p:nvSpPr>
          <p:cNvPr id="41" name="Rounded Rectangle 40"/>
          <p:cNvSpPr/>
          <p:nvPr/>
        </p:nvSpPr>
        <p:spPr>
          <a:xfrm>
            <a:off x="9098280" y="4389120"/>
            <a:ext cx="2377440" cy="10972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186279" y="4389120"/>
            <a:ext cx="2286000" cy="228600"/>
          </a:xfrm>
          <a:prstGeom prst="rect">
            <a:avLst/>
          </a:prstGeom>
          <a:noFill/>
        </p:spPr>
        <p:txBody>
          <a:bodyPr wrap="square">
            <a:spAutoFit/>
          </a:bodyPr>
          <a:lstStyle/>
          <a:p>
            <a:pPr algn="l">
              <a:lnSpc>
                <a:spcPts val="1300"/>
              </a:lnSpc>
              <a:spcAft>
                <a:spcPts val="0"/>
              </a:spcAft>
              <a:defRPr sz="1000" b="1" i="0">
                <a:solidFill>
                  <a:srgbClr val="EF4444"/>
                </a:solidFill>
                <a:latin typeface="Calibri"/>
              </a:defRPr>
            </a:pPr>
            <a:r>
              <a:rPr dirty="0"/>
              <a:t>⚠ Compiler Output:</a:t>
            </a:r>
          </a:p>
        </p:txBody>
      </p:sp>
      <p:sp>
        <p:nvSpPr>
          <p:cNvPr id="43" name="TextBox 42"/>
          <p:cNvSpPr txBox="1"/>
          <p:nvPr/>
        </p:nvSpPr>
        <p:spPr>
          <a:xfrm>
            <a:off x="9189720" y="4572000"/>
            <a:ext cx="2194560" cy="822960"/>
          </a:xfrm>
          <a:prstGeom prst="rect">
            <a:avLst/>
          </a:prstGeom>
          <a:noFill/>
        </p:spPr>
        <p:txBody>
          <a:bodyPr wrap="square">
            <a:spAutoFit/>
          </a:bodyPr>
          <a:lstStyle/>
          <a:p>
            <a:pPr algn="l">
              <a:lnSpc>
                <a:spcPts val="1150"/>
              </a:lnSpc>
              <a:spcAft>
                <a:spcPts val="0"/>
              </a:spcAft>
              <a:defRPr sz="1000" b="0" i="0">
                <a:solidFill>
                  <a:srgbClr val="EF4444"/>
                </a:solidFill>
                <a:latin typeface="Consolas"/>
              </a:defRPr>
            </a:pPr>
            <a:r>
              <a:rPr dirty="0"/>
              <a:t>Syntax Error [Line 19]:</a:t>
            </a:r>
            <a:br>
              <a:rPr dirty="0"/>
            </a:br>
            <a:r>
              <a:rPr dirty="0"/>
              <a:t>Unexpected token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Phase 6 — Three-Address Code (TAC) Generation</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9 / 11</a:t>
            </a:r>
          </a:p>
        </p:txBody>
      </p:sp>
      <p:sp>
        <p:nvSpPr>
          <p:cNvPr id="7" name="TextBox 6"/>
          <p:cNvSpPr txBox="1"/>
          <p:nvPr/>
        </p:nvSpPr>
        <p:spPr>
          <a:xfrm>
            <a:off x="640080" y="137160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What is Three-Address Code?</a:t>
            </a:r>
          </a:p>
        </p:txBody>
      </p:sp>
      <p:sp>
        <p:nvSpPr>
          <p:cNvPr id="8" name="TextBox 7"/>
          <p:cNvSpPr txBox="1"/>
          <p:nvPr/>
        </p:nvSpPr>
        <p:spPr>
          <a:xfrm>
            <a:off x="640080" y="1828800"/>
            <a:ext cx="5029200" cy="1828800"/>
          </a:xfrm>
          <a:prstGeom prst="rect">
            <a:avLst/>
          </a:prstGeom>
          <a:noFill/>
        </p:spPr>
        <p:txBody>
          <a:bodyPr wrap="square">
            <a:spAutoFit/>
          </a:bodyPr>
          <a:lstStyle/>
          <a:p>
            <a:pPr algn="l">
              <a:spcBef>
                <a:spcPts val="0"/>
              </a:spcBef>
              <a:spcAft>
                <a:spcPts val="500"/>
              </a:spcAft>
              <a:defRPr sz="1500" b="0" i="0">
                <a:solidFill>
                  <a:srgbClr val="374151"/>
                </a:solidFill>
                <a:latin typeface="Calibri"/>
              </a:defRPr>
            </a:pPr>
            <a:r>
              <a:t>•  Linear intermediate representation (IR)</a:t>
            </a:r>
          </a:p>
          <a:p>
            <a:pPr algn="l">
              <a:spcBef>
                <a:spcPts val="0"/>
              </a:spcBef>
              <a:spcAft>
                <a:spcPts val="500"/>
              </a:spcAft>
              <a:defRPr sz="1500" b="0" i="0">
                <a:solidFill>
                  <a:srgbClr val="374151"/>
                </a:solidFill>
                <a:latin typeface="Calibri"/>
              </a:defRPr>
            </a:pPr>
            <a:r>
              <a:t>•  Each instruction has at most 3 operands</a:t>
            </a:r>
          </a:p>
          <a:p>
            <a:pPr algn="l">
              <a:spcBef>
                <a:spcPts val="0"/>
              </a:spcBef>
              <a:spcAft>
                <a:spcPts val="500"/>
              </a:spcAft>
              <a:defRPr sz="1500" b="0" i="0">
                <a:solidFill>
                  <a:srgbClr val="374151"/>
                </a:solidFill>
                <a:latin typeface="Calibri"/>
              </a:defRPr>
            </a:pPr>
            <a:r>
              <a:t>•  Format:   result = operand1  op  operand2</a:t>
            </a:r>
          </a:p>
          <a:p>
            <a:pPr algn="l">
              <a:spcBef>
                <a:spcPts val="0"/>
              </a:spcBef>
              <a:spcAft>
                <a:spcPts val="500"/>
              </a:spcAft>
              <a:defRPr sz="1500" b="0" i="0">
                <a:solidFill>
                  <a:srgbClr val="374151"/>
                </a:solidFill>
                <a:latin typeface="Calibri"/>
              </a:defRPr>
            </a:pPr>
            <a:r>
              <a:t>•  Temporary variables: t1, t2, t3, ...</a:t>
            </a:r>
          </a:p>
          <a:p>
            <a:pPr algn="l">
              <a:spcBef>
                <a:spcPts val="0"/>
              </a:spcBef>
              <a:spcAft>
                <a:spcPts val="500"/>
              </a:spcAft>
              <a:defRPr sz="1500" b="0" i="0">
                <a:solidFill>
                  <a:srgbClr val="374151"/>
                </a:solidFill>
                <a:latin typeface="Calibri"/>
              </a:defRPr>
            </a:pPr>
            <a:r>
              <a:t>•  Labels for control flow: L0, L1, L2, ...</a:t>
            </a:r>
          </a:p>
          <a:p>
            <a:pPr algn="l">
              <a:spcBef>
                <a:spcPts val="0"/>
              </a:spcBef>
              <a:spcAft>
                <a:spcPts val="500"/>
              </a:spcAft>
              <a:defRPr sz="1500" b="0" i="0">
                <a:solidFill>
                  <a:srgbClr val="374151"/>
                </a:solidFill>
                <a:latin typeface="Calibri"/>
              </a:defRPr>
            </a:pPr>
            <a:r>
              <a:t>•  Conditional jumps: if_false  →  goto label</a:t>
            </a:r>
          </a:p>
        </p:txBody>
      </p:sp>
      <p:sp>
        <p:nvSpPr>
          <p:cNvPr id="9" name="TextBox 8"/>
          <p:cNvSpPr txBox="1"/>
          <p:nvPr/>
        </p:nvSpPr>
        <p:spPr>
          <a:xfrm>
            <a:off x="640080" y="384048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t>Example: Decomposing   c = a + b * 2</a:t>
            </a:r>
          </a:p>
        </p:txBody>
      </p:sp>
      <p:sp>
        <p:nvSpPr>
          <p:cNvPr id="10" name="Rounded Rectangle 9"/>
          <p:cNvSpPr/>
          <p:nvPr/>
        </p:nvSpPr>
        <p:spPr>
          <a:xfrm>
            <a:off x="640080" y="4297680"/>
            <a:ext cx="5029200" cy="164592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34840"/>
            <a:ext cx="2286000" cy="365760"/>
          </a:xfrm>
          <a:prstGeom prst="rect">
            <a:avLst/>
          </a:prstGeom>
          <a:noFill/>
        </p:spPr>
        <p:txBody>
          <a:bodyPr wrap="square">
            <a:spAutoFit/>
          </a:bodyPr>
          <a:lstStyle/>
          <a:p>
            <a:pPr algn="l">
              <a:lnSpc>
                <a:spcPts val="1950"/>
              </a:lnSpc>
              <a:spcAft>
                <a:spcPts val="0"/>
              </a:spcAft>
              <a:defRPr sz="1500" b="1" i="0">
                <a:solidFill>
                  <a:srgbClr val="2E5EAA"/>
                </a:solidFill>
                <a:latin typeface="Consolas"/>
              </a:defRPr>
            </a:pPr>
            <a:r>
              <a:t>t1 = b * 2</a:t>
            </a:r>
          </a:p>
        </p:txBody>
      </p:sp>
      <p:sp>
        <p:nvSpPr>
          <p:cNvPr id="12" name="TextBox 11"/>
          <p:cNvSpPr txBox="1"/>
          <p:nvPr/>
        </p:nvSpPr>
        <p:spPr>
          <a:xfrm>
            <a:off x="3200400" y="4434840"/>
            <a:ext cx="2286000" cy="365760"/>
          </a:xfrm>
          <a:prstGeom prst="rect">
            <a:avLst/>
          </a:prstGeom>
          <a:noFill/>
        </p:spPr>
        <p:txBody>
          <a:bodyPr wrap="square">
            <a:spAutoFit/>
          </a:bodyPr>
          <a:lstStyle/>
          <a:p>
            <a:pPr algn="l">
              <a:lnSpc>
                <a:spcPts val="1560"/>
              </a:lnSpc>
              <a:spcAft>
                <a:spcPts val="0"/>
              </a:spcAft>
              <a:defRPr sz="1200" b="0" i="1">
                <a:solidFill>
                  <a:srgbClr val="6B7280"/>
                </a:solidFill>
                <a:latin typeface="Consolas"/>
              </a:defRPr>
            </a:pPr>
            <a:r>
              <a:t>// multiply first (precedence)</a:t>
            </a:r>
          </a:p>
        </p:txBody>
      </p:sp>
      <p:sp>
        <p:nvSpPr>
          <p:cNvPr id="13" name="TextBox 12"/>
          <p:cNvSpPr txBox="1"/>
          <p:nvPr/>
        </p:nvSpPr>
        <p:spPr>
          <a:xfrm>
            <a:off x="914400" y="4846320"/>
            <a:ext cx="2286000" cy="365760"/>
          </a:xfrm>
          <a:prstGeom prst="rect">
            <a:avLst/>
          </a:prstGeom>
          <a:noFill/>
        </p:spPr>
        <p:txBody>
          <a:bodyPr wrap="square">
            <a:spAutoFit/>
          </a:bodyPr>
          <a:lstStyle/>
          <a:p>
            <a:pPr algn="l">
              <a:lnSpc>
                <a:spcPts val="1950"/>
              </a:lnSpc>
              <a:spcAft>
                <a:spcPts val="0"/>
              </a:spcAft>
              <a:defRPr sz="1500" b="1" i="0">
                <a:solidFill>
                  <a:srgbClr val="2E5EAA"/>
                </a:solidFill>
                <a:latin typeface="Consolas"/>
              </a:defRPr>
            </a:pPr>
            <a:r>
              <a:t>t2 = a + t1</a:t>
            </a:r>
          </a:p>
        </p:txBody>
      </p:sp>
      <p:sp>
        <p:nvSpPr>
          <p:cNvPr id="14" name="TextBox 13"/>
          <p:cNvSpPr txBox="1"/>
          <p:nvPr/>
        </p:nvSpPr>
        <p:spPr>
          <a:xfrm>
            <a:off x="3200400" y="4846320"/>
            <a:ext cx="2286000" cy="365760"/>
          </a:xfrm>
          <a:prstGeom prst="rect">
            <a:avLst/>
          </a:prstGeom>
          <a:noFill/>
        </p:spPr>
        <p:txBody>
          <a:bodyPr wrap="square">
            <a:spAutoFit/>
          </a:bodyPr>
          <a:lstStyle/>
          <a:p>
            <a:pPr algn="l">
              <a:lnSpc>
                <a:spcPts val="1560"/>
              </a:lnSpc>
              <a:spcAft>
                <a:spcPts val="0"/>
              </a:spcAft>
              <a:defRPr sz="1200" b="0" i="1">
                <a:solidFill>
                  <a:srgbClr val="6B7280"/>
                </a:solidFill>
                <a:latin typeface="Consolas"/>
              </a:defRPr>
            </a:pPr>
            <a:r>
              <a:t>// then add</a:t>
            </a:r>
          </a:p>
        </p:txBody>
      </p:sp>
      <p:sp>
        <p:nvSpPr>
          <p:cNvPr id="15" name="TextBox 14"/>
          <p:cNvSpPr txBox="1"/>
          <p:nvPr/>
        </p:nvSpPr>
        <p:spPr>
          <a:xfrm>
            <a:off x="914400" y="5257800"/>
            <a:ext cx="2286000" cy="365760"/>
          </a:xfrm>
          <a:prstGeom prst="rect">
            <a:avLst/>
          </a:prstGeom>
          <a:noFill/>
        </p:spPr>
        <p:txBody>
          <a:bodyPr wrap="square">
            <a:spAutoFit/>
          </a:bodyPr>
          <a:lstStyle/>
          <a:p>
            <a:pPr algn="l">
              <a:lnSpc>
                <a:spcPts val="1950"/>
              </a:lnSpc>
              <a:spcAft>
                <a:spcPts val="0"/>
              </a:spcAft>
              <a:defRPr sz="1500" b="1" i="0">
                <a:solidFill>
                  <a:srgbClr val="2E5EAA"/>
                </a:solidFill>
                <a:latin typeface="Consolas"/>
              </a:defRPr>
            </a:pPr>
            <a:r>
              <a:t>c = t2</a:t>
            </a:r>
          </a:p>
        </p:txBody>
      </p:sp>
      <p:sp>
        <p:nvSpPr>
          <p:cNvPr id="16" name="TextBox 15"/>
          <p:cNvSpPr txBox="1"/>
          <p:nvPr/>
        </p:nvSpPr>
        <p:spPr>
          <a:xfrm>
            <a:off x="3200400" y="5257800"/>
            <a:ext cx="2286000" cy="365760"/>
          </a:xfrm>
          <a:prstGeom prst="rect">
            <a:avLst/>
          </a:prstGeom>
          <a:noFill/>
        </p:spPr>
        <p:txBody>
          <a:bodyPr wrap="square">
            <a:spAutoFit/>
          </a:bodyPr>
          <a:lstStyle/>
          <a:p>
            <a:pPr algn="l">
              <a:lnSpc>
                <a:spcPts val="1560"/>
              </a:lnSpc>
              <a:spcAft>
                <a:spcPts val="0"/>
              </a:spcAft>
              <a:defRPr sz="1200" b="0" i="1">
                <a:solidFill>
                  <a:srgbClr val="6B7280"/>
                </a:solidFill>
                <a:latin typeface="Consolas"/>
              </a:defRPr>
            </a:pPr>
            <a:r>
              <a:t>// assign result</a:t>
            </a:r>
          </a:p>
        </p:txBody>
      </p:sp>
      <p:sp>
        <p:nvSpPr>
          <p:cNvPr id="17" name="TextBox 16"/>
          <p:cNvSpPr txBox="1"/>
          <p:nvPr/>
        </p:nvSpPr>
        <p:spPr>
          <a:xfrm>
            <a:off x="7777316" y="1463040"/>
            <a:ext cx="5029200" cy="3657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rPr dirty="0"/>
              <a:t>TAC for While Loop</a:t>
            </a:r>
          </a:p>
        </p:txBody>
      </p:sp>
      <p:sp>
        <p:nvSpPr>
          <p:cNvPr id="18" name="Rounded Rectangle 17"/>
          <p:cNvSpPr/>
          <p:nvPr/>
        </p:nvSpPr>
        <p:spPr>
          <a:xfrm>
            <a:off x="6400800" y="1920240"/>
            <a:ext cx="5029200" cy="4114800"/>
          </a:xfrm>
          <a:prstGeom prst="roundRect">
            <a:avLst/>
          </a:prstGeom>
          <a:solidFill>
            <a:srgbClr val="F1F5F9"/>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97907" y="2468880"/>
            <a:ext cx="4572000" cy="3931920"/>
          </a:xfrm>
          <a:prstGeom prst="rect">
            <a:avLst/>
          </a:prstGeom>
          <a:noFill/>
        </p:spPr>
        <p:txBody>
          <a:bodyPr wrap="square">
            <a:spAutoFit/>
          </a:bodyPr>
          <a:lstStyle/>
          <a:p>
            <a:pPr algn="l">
              <a:lnSpc>
                <a:spcPts val="1380"/>
              </a:lnSpc>
              <a:spcAft>
                <a:spcPts val="0"/>
              </a:spcAft>
              <a:defRPr sz="1200" b="0" i="0">
                <a:solidFill>
                  <a:srgbClr val="374151"/>
                </a:solidFill>
                <a:latin typeface="Consolas"/>
              </a:defRPr>
            </a:pPr>
            <a:r>
              <a:t>Source:                 TAC Output:</a:t>
            </a:r>
            <a:br/>
            <a:br/>
            <a:r>
              <a:t>while (n &gt; 0) {         L0:</a:t>
            </a:r>
            <a:br/>
            <a:r>
              <a:t>    sum = sum + n;       t1 = n &gt; 0</a:t>
            </a:r>
            <a:br/>
            <a:r>
              <a:t>    n = n - 1;           if_false t1 goto L1</a:t>
            </a:r>
            <a:br/>
            <a:r>
              <a:t>}                        t2 = sum + n</a:t>
            </a:r>
            <a:br/>
            <a:r>
              <a:t>                         sum = t2</a:t>
            </a:r>
            <a:br/>
            <a:r>
              <a:t>                         t3 = n - 1</a:t>
            </a:r>
            <a:br/>
            <a:r>
              <a:t>                         n = t3</a:t>
            </a:r>
            <a:br/>
            <a:r>
              <a:t>                         goto L0</a:t>
            </a:r>
            <a:br/>
            <a:r>
              <a:t>                         L1:</a:t>
            </a:r>
            <a:br/>
            <a:br/>
            <a:br/>
            <a:r>
              <a:t>L0 = loop start (condition check)</a:t>
            </a:r>
            <a:br/>
            <a:r>
              <a:t>L1 = loop exit (jump here when false)</a:t>
            </a:r>
            <a:br/>
            <a:r>
              <a:t>goto L0 = unconditional jump back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Testing &amp; Error Handling</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10 / 11</a:t>
            </a:r>
          </a:p>
        </p:txBody>
      </p:sp>
      <p:sp>
        <p:nvSpPr>
          <p:cNvPr id="7" name="TextBox 6"/>
          <p:cNvSpPr txBox="1"/>
          <p:nvPr/>
        </p:nvSpPr>
        <p:spPr>
          <a:xfrm>
            <a:off x="640080" y="1371600"/>
            <a:ext cx="5029200" cy="397160"/>
          </a:xfrm>
          <a:prstGeom prst="rect">
            <a:avLst/>
          </a:prstGeom>
          <a:noFill/>
        </p:spPr>
        <p:txBody>
          <a:bodyPr wrap="square">
            <a:spAutoFit/>
          </a:bodyPr>
          <a:lstStyle/>
          <a:p>
            <a:pPr algn="l">
              <a:lnSpc>
                <a:spcPts val="2470"/>
              </a:lnSpc>
              <a:spcAft>
                <a:spcPts val="0"/>
              </a:spcAft>
              <a:defRPr sz="1900" b="1" i="0">
                <a:solidFill>
                  <a:srgbClr val="10B981"/>
                </a:solidFill>
                <a:latin typeface="Calibri"/>
              </a:defRPr>
            </a:pPr>
            <a:r>
              <a:rPr dirty="0"/>
              <a:t>  Valid Test Cases</a:t>
            </a:r>
          </a:p>
        </p:txBody>
      </p:sp>
      <p:sp>
        <p:nvSpPr>
          <p:cNvPr id="8" name="Rounded Rectangle 7"/>
          <p:cNvSpPr/>
          <p:nvPr/>
        </p:nvSpPr>
        <p:spPr>
          <a:xfrm>
            <a:off x="640080" y="1920240"/>
            <a:ext cx="5029200" cy="5943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938528"/>
            <a:ext cx="2286000" cy="274320"/>
          </a:xfrm>
          <a:prstGeom prst="rect">
            <a:avLst/>
          </a:prstGeom>
          <a:noFill/>
        </p:spPr>
        <p:txBody>
          <a:bodyPr wrap="square">
            <a:spAutoFit/>
          </a:bodyPr>
          <a:lstStyle/>
          <a:p>
            <a:pPr algn="l">
              <a:lnSpc>
                <a:spcPts val="1560"/>
              </a:lnSpc>
              <a:spcAft>
                <a:spcPts val="0"/>
              </a:spcAft>
              <a:defRPr sz="1200" b="1" i="0">
                <a:solidFill>
                  <a:srgbClr val="2E5EAA"/>
                </a:solidFill>
                <a:latin typeface="Consolas"/>
              </a:defRPr>
            </a:pPr>
            <a:r>
              <a:t>test_arithmetic.mc</a:t>
            </a:r>
          </a:p>
        </p:txBody>
      </p:sp>
      <p:sp>
        <p:nvSpPr>
          <p:cNvPr id="10" name="TextBox 9"/>
          <p:cNvSpPr txBox="1"/>
          <p:nvPr/>
        </p:nvSpPr>
        <p:spPr>
          <a:xfrm>
            <a:off x="822960" y="21945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Operator precedence  (c = a + b * 2)  →  Correct TAC with proper ordering</a:t>
            </a:r>
          </a:p>
        </p:txBody>
      </p:sp>
      <p:sp>
        <p:nvSpPr>
          <p:cNvPr id="11" name="Rounded Rectangle 10"/>
          <p:cNvSpPr/>
          <p:nvPr/>
        </p:nvSpPr>
        <p:spPr>
          <a:xfrm>
            <a:off x="640080" y="2606040"/>
            <a:ext cx="5029200" cy="5943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624328"/>
            <a:ext cx="2286000" cy="274320"/>
          </a:xfrm>
          <a:prstGeom prst="rect">
            <a:avLst/>
          </a:prstGeom>
          <a:noFill/>
        </p:spPr>
        <p:txBody>
          <a:bodyPr wrap="square">
            <a:spAutoFit/>
          </a:bodyPr>
          <a:lstStyle/>
          <a:p>
            <a:pPr algn="l">
              <a:lnSpc>
                <a:spcPts val="1560"/>
              </a:lnSpc>
              <a:spcAft>
                <a:spcPts val="0"/>
              </a:spcAft>
              <a:defRPr sz="1200" b="1" i="0">
                <a:solidFill>
                  <a:srgbClr val="2E5EAA"/>
                </a:solidFill>
                <a:latin typeface="Consolas"/>
              </a:defRPr>
            </a:pPr>
            <a:r>
              <a:t>test_if_else.mc</a:t>
            </a:r>
          </a:p>
        </p:txBody>
      </p:sp>
      <p:sp>
        <p:nvSpPr>
          <p:cNvPr id="13" name="TextBox 12"/>
          <p:cNvSpPr txBox="1"/>
          <p:nvPr/>
        </p:nvSpPr>
        <p:spPr>
          <a:xfrm>
            <a:off x="822960" y="28803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Conditional branching with boolean  →  TAC with if_false and goto labels</a:t>
            </a:r>
          </a:p>
        </p:txBody>
      </p:sp>
      <p:sp>
        <p:nvSpPr>
          <p:cNvPr id="14" name="Rounded Rectangle 13"/>
          <p:cNvSpPr/>
          <p:nvPr/>
        </p:nvSpPr>
        <p:spPr>
          <a:xfrm>
            <a:off x="640080" y="3291840"/>
            <a:ext cx="5029200" cy="5943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310128"/>
            <a:ext cx="2286000" cy="274320"/>
          </a:xfrm>
          <a:prstGeom prst="rect">
            <a:avLst/>
          </a:prstGeom>
          <a:noFill/>
        </p:spPr>
        <p:txBody>
          <a:bodyPr wrap="square">
            <a:spAutoFit/>
          </a:bodyPr>
          <a:lstStyle/>
          <a:p>
            <a:pPr algn="l">
              <a:lnSpc>
                <a:spcPts val="1560"/>
              </a:lnSpc>
              <a:spcAft>
                <a:spcPts val="0"/>
              </a:spcAft>
              <a:defRPr sz="1200" b="1" i="0">
                <a:solidFill>
                  <a:srgbClr val="2E5EAA"/>
                </a:solidFill>
                <a:latin typeface="Consolas"/>
              </a:defRPr>
            </a:pPr>
            <a:r>
              <a:t>test_while.mc</a:t>
            </a:r>
          </a:p>
        </p:txBody>
      </p:sp>
      <p:sp>
        <p:nvSpPr>
          <p:cNvPr id="16" name="TextBox 15"/>
          <p:cNvSpPr txBox="1"/>
          <p:nvPr/>
        </p:nvSpPr>
        <p:spPr>
          <a:xfrm>
            <a:off x="822960" y="35661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Loop with accumulation  (sum 1..5)  →  TAC with L0/L1 loop labels</a:t>
            </a:r>
          </a:p>
        </p:txBody>
      </p:sp>
      <p:sp>
        <p:nvSpPr>
          <p:cNvPr id="17" name="Rounded Rectangle 16"/>
          <p:cNvSpPr/>
          <p:nvPr/>
        </p:nvSpPr>
        <p:spPr>
          <a:xfrm>
            <a:off x="640080" y="3977640"/>
            <a:ext cx="5029200" cy="5943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95928"/>
            <a:ext cx="2286000" cy="274320"/>
          </a:xfrm>
          <a:prstGeom prst="rect">
            <a:avLst/>
          </a:prstGeom>
          <a:noFill/>
        </p:spPr>
        <p:txBody>
          <a:bodyPr wrap="square">
            <a:spAutoFit/>
          </a:bodyPr>
          <a:lstStyle/>
          <a:p>
            <a:pPr algn="l">
              <a:lnSpc>
                <a:spcPts val="1560"/>
              </a:lnSpc>
              <a:spcAft>
                <a:spcPts val="0"/>
              </a:spcAft>
              <a:defRPr sz="1200" b="1" i="0">
                <a:solidFill>
                  <a:srgbClr val="2E5EAA"/>
                </a:solidFill>
                <a:latin typeface="Consolas"/>
              </a:defRPr>
            </a:pPr>
            <a:r>
              <a:t>test_nested_scopes.mc</a:t>
            </a:r>
          </a:p>
        </p:txBody>
      </p:sp>
      <p:sp>
        <p:nvSpPr>
          <p:cNvPr id="19" name="TextBox 18"/>
          <p:cNvSpPr txBox="1"/>
          <p:nvPr/>
        </p:nvSpPr>
        <p:spPr>
          <a:xfrm>
            <a:off x="822960" y="42519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Inner variable invisible outside block  →  Symbol table shows scope levels</a:t>
            </a:r>
          </a:p>
        </p:txBody>
      </p:sp>
      <p:sp>
        <p:nvSpPr>
          <p:cNvPr id="20" name="Rounded Rectangle 19"/>
          <p:cNvSpPr/>
          <p:nvPr/>
        </p:nvSpPr>
        <p:spPr>
          <a:xfrm>
            <a:off x="640080" y="4663440"/>
            <a:ext cx="5029200" cy="594360"/>
          </a:xfrm>
          <a:prstGeom prst="roundRect">
            <a:avLst/>
          </a:prstGeom>
          <a:solidFill>
            <a:srgbClr val="EBF3FB"/>
          </a:solidFill>
          <a:ln w="12700">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613984"/>
            <a:ext cx="2286000" cy="274320"/>
          </a:xfrm>
          <a:prstGeom prst="rect">
            <a:avLst/>
          </a:prstGeom>
          <a:noFill/>
        </p:spPr>
        <p:txBody>
          <a:bodyPr wrap="square">
            <a:spAutoFit/>
          </a:bodyPr>
          <a:lstStyle/>
          <a:p>
            <a:pPr algn="l">
              <a:lnSpc>
                <a:spcPts val="1560"/>
              </a:lnSpc>
              <a:spcAft>
                <a:spcPts val="0"/>
              </a:spcAft>
              <a:defRPr sz="1200" b="1" i="0">
                <a:solidFill>
                  <a:srgbClr val="2E5EAA"/>
                </a:solidFill>
                <a:latin typeface="Consolas"/>
              </a:defRPr>
            </a:pPr>
            <a:r>
              <a:t>sample.mc</a:t>
            </a:r>
          </a:p>
        </p:txBody>
      </p:sp>
      <p:sp>
        <p:nvSpPr>
          <p:cNvPr id="22" name="TextBox 21"/>
          <p:cNvSpPr txBox="1"/>
          <p:nvPr/>
        </p:nvSpPr>
        <p:spPr>
          <a:xfrm>
            <a:off x="822960" y="484632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rPr dirty="0"/>
              <a:t>Full program — all features combined  →  Complete output: tokens + AST + TAC</a:t>
            </a:r>
          </a:p>
        </p:txBody>
      </p:sp>
      <p:sp>
        <p:nvSpPr>
          <p:cNvPr id="23" name="TextBox 22"/>
          <p:cNvSpPr txBox="1"/>
          <p:nvPr/>
        </p:nvSpPr>
        <p:spPr>
          <a:xfrm>
            <a:off x="6400800" y="1371600"/>
            <a:ext cx="5029200" cy="397160"/>
          </a:xfrm>
          <a:prstGeom prst="rect">
            <a:avLst/>
          </a:prstGeom>
          <a:noFill/>
        </p:spPr>
        <p:txBody>
          <a:bodyPr wrap="square">
            <a:spAutoFit/>
          </a:bodyPr>
          <a:lstStyle/>
          <a:p>
            <a:pPr algn="l">
              <a:lnSpc>
                <a:spcPts val="2470"/>
              </a:lnSpc>
              <a:spcAft>
                <a:spcPts val="0"/>
              </a:spcAft>
              <a:defRPr sz="1900" b="1" i="0">
                <a:solidFill>
                  <a:srgbClr val="EF4444"/>
                </a:solidFill>
                <a:latin typeface="Calibri"/>
              </a:defRPr>
            </a:pPr>
            <a:r>
              <a:rPr dirty="0"/>
              <a:t>  Invalid Test Cases (Error Detection)</a:t>
            </a:r>
          </a:p>
        </p:txBody>
      </p:sp>
      <p:sp>
        <p:nvSpPr>
          <p:cNvPr id="24" name="Rounded Rectangle 23"/>
          <p:cNvSpPr/>
          <p:nvPr/>
        </p:nvSpPr>
        <p:spPr>
          <a:xfrm>
            <a:off x="6400800" y="1920240"/>
            <a:ext cx="5029200" cy="594360"/>
          </a:xfrm>
          <a:prstGeom prst="roundRect">
            <a:avLst/>
          </a:prstGeom>
          <a:solidFill>
            <a:srgbClr val="FFF7ED"/>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1938528"/>
            <a:ext cx="2560320" cy="274320"/>
          </a:xfrm>
          <a:prstGeom prst="rect">
            <a:avLst/>
          </a:prstGeom>
          <a:noFill/>
        </p:spPr>
        <p:txBody>
          <a:bodyPr wrap="square">
            <a:spAutoFit/>
          </a:bodyPr>
          <a:lstStyle/>
          <a:p>
            <a:pPr algn="l">
              <a:lnSpc>
                <a:spcPts val="1560"/>
              </a:lnSpc>
              <a:spcAft>
                <a:spcPts val="0"/>
              </a:spcAft>
              <a:defRPr sz="1200" b="1" i="0">
                <a:solidFill>
                  <a:srgbClr val="EF4444"/>
                </a:solidFill>
                <a:latin typeface="Consolas"/>
              </a:defRPr>
            </a:pPr>
            <a:r>
              <a:t>test_type_mismatch.mc</a:t>
            </a:r>
          </a:p>
        </p:txBody>
      </p:sp>
      <p:sp>
        <p:nvSpPr>
          <p:cNvPr id="26" name="TextBox 25"/>
          <p:cNvSpPr txBox="1"/>
          <p:nvPr/>
        </p:nvSpPr>
        <p:spPr>
          <a:xfrm>
            <a:off x="6583680" y="21945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int ← float, bool ← int, float ← bool  →  Semantic Error: Type mismatch</a:t>
            </a:r>
          </a:p>
        </p:txBody>
      </p:sp>
      <p:sp>
        <p:nvSpPr>
          <p:cNvPr id="27" name="Rounded Rectangle 26"/>
          <p:cNvSpPr/>
          <p:nvPr/>
        </p:nvSpPr>
        <p:spPr>
          <a:xfrm>
            <a:off x="6400800" y="2606040"/>
            <a:ext cx="5029200" cy="594360"/>
          </a:xfrm>
          <a:prstGeom prst="roundRect">
            <a:avLst/>
          </a:prstGeom>
          <a:solidFill>
            <a:srgbClr val="FFF7ED"/>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2624328"/>
            <a:ext cx="2560320" cy="274320"/>
          </a:xfrm>
          <a:prstGeom prst="rect">
            <a:avLst/>
          </a:prstGeom>
          <a:noFill/>
        </p:spPr>
        <p:txBody>
          <a:bodyPr wrap="square">
            <a:spAutoFit/>
          </a:bodyPr>
          <a:lstStyle/>
          <a:p>
            <a:pPr algn="l">
              <a:lnSpc>
                <a:spcPts val="1560"/>
              </a:lnSpc>
              <a:spcAft>
                <a:spcPts val="0"/>
              </a:spcAft>
              <a:defRPr sz="1200" b="1" i="0">
                <a:solidFill>
                  <a:srgbClr val="EF4444"/>
                </a:solidFill>
                <a:latin typeface="Consolas"/>
              </a:defRPr>
            </a:pPr>
            <a:r>
              <a:t>test_undeclared.mc</a:t>
            </a:r>
          </a:p>
        </p:txBody>
      </p:sp>
      <p:sp>
        <p:nvSpPr>
          <p:cNvPr id="29" name="TextBox 28"/>
          <p:cNvSpPr txBox="1"/>
          <p:nvPr/>
        </p:nvSpPr>
        <p:spPr>
          <a:xfrm>
            <a:off x="6583680" y="28803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Use y, z, w without declaration  →  Semantic Error: Variable not declared</a:t>
            </a:r>
          </a:p>
        </p:txBody>
      </p:sp>
      <p:sp>
        <p:nvSpPr>
          <p:cNvPr id="30" name="Rounded Rectangle 29"/>
          <p:cNvSpPr/>
          <p:nvPr/>
        </p:nvSpPr>
        <p:spPr>
          <a:xfrm>
            <a:off x="6400800" y="3291840"/>
            <a:ext cx="5029200" cy="594360"/>
          </a:xfrm>
          <a:prstGeom prst="roundRect">
            <a:avLst/>
          </a:prstGeom>
          <a:solidFill>
            <a:srgbClr val="FFF7ED"/>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0" y="3310128"/>
            <a:ext cx="2560320" cy="274320"/>
          </a:xfrm>
          <a:prstGeom prst="rect">
            <a:avLst/>
          </a:prstGeom>
          <a:noFill/>
        </p:spPr>
        <p:txBody>
          <a:bodyPr wrap="square">
            <a:spAutoFit/>
          </a:bodyPr>
          <a:lstStyle/>
          <a:p>
            <a:pPr algn="l">
              <a:lnSpc>
                <a:spcPts val="1560"/>
              </a:lnSpc>
              <a:spcAft>
                <a:spcPts val="0"/>
              </a:spcAft>
              <a:defRPr sz="1200" b="1" i="0">
                <a:solidFill>
                  <a:srgbClr val="EF4444"/>
                </a:solidFill>
                <a:latin typeface="Consolas"/>
              </a:defRPr>
            </a:pPr>
            <a:r>
              <a:t>test_lexical_error.mc</a:t>
            </a:r>
          </a:p>
        </p:txBody>
      </p:sp>
      <p:sp>
        <p:nvSpPr>
          <p:cNvPr id="32" name="TextBox 31"/>
          <p:cNvSpPr txBox="1"/>
          <p:nvPr/>
        </p:nvSpPr>
        <p:spPr>
          <a:xfrm>
            <a:off x="6583680" y="35661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Invalid chars: @, #, $  →  Lexical Error: Invalid token</a:t>
            </a:r>
          </a:p>
        </p:txBody>
      </p:sp>
      <p:sp>
        <p:nvSpPr>
          <p:cNvPr id="33" name="Rounded Rectangle 32"/>
          <p:cNvSpPr/>
          <p:nvPr/>
        </p:nvSpPr>
        <p:spPr>
          <a:xfrm>
            <a:off x="6400800" y="3977640"/>
            <a:ext cx="5029200" cy="594360"/>
          </a:xfrm>
          <a:prstGeom prst="roundRect">
            <a:avLst/>
          </a:prstGeom>
          <a:solidFill>
            <a:srgbClr val="FFF7ED"/>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0" y="3995928"/>
            <a:ext cx="2560320" cy="274320"/>
          </a:xfrm>
          <a:prstGeom prst="rect">
            <a:avLst/>
          </a:prstGeom>
          <a:noFill/>
        </p:spPr>
        <p:txBody>
          <a:bodyPr wrap="square">
            <a:spAutoFit/>
          </a:bodyPr>
          <a:lstStyle/>
          <a:p>
            <a:pPr algn="l">
              <a:lnSpc>
                <a:spcPts val="1560"/>
              </a:lnSpc>
              <a:spcAft>
                <a:spcPts val="0"/>
              </a:spcAft>
              <a:defRPr sz="1200" b="1" i="0">
                <a:solidFill>
                  <a:srgbClr val="EF4444"/>
                </a:solidFill>
                <a:latin typeface="Consolas"/>
              </a:defRPr>
            </a:pPr>
            <a:r>
              <a:t>test_syntax_error.mc</a:t>
            </a:r>
          </a:p>
        </p:txBody>
      </p:sp>
      <p:sp>
        <p:nvSpPr>
          <p:cNvPr id="35" name="TextBox 34"/>
          <p:cNvSpPr txBox="1"/>
          <p:nvPr/>
        </p:nvSpPr>
        <p:spPr>
          <a:xfrm>
            <a:off x="6583680" y="4251960"/>
            <a:ext cx="4663440" cy="274320"/>
          </a:xfrm>
          <a:prstGeom prst="rect">
            <a:avLst/>
          </a:prstGeom>
          <a:noFill/>
        </p:spPr>
        <p:txBody>
          <a:bodyPr wrap="square">
            <a:spAutoFit/>
          </a:bodyPr>
          <a:lstStyle/>
          <a:p>
            <a:pPr algn="l">
              <a:lnSpc>
                <a:spcPts val="1430"/>
              </a:lnSpc>
              <a:spcAft>
                <a:spcPts val="0"/>
              </a:spcAft>
              <a:defRPr sz="1100" b="0" i="0">
                <a:solidFill>
                  <a:srgbClr val="374151"/>
                </a:solidFill>
                <a:latin typeface="Calibri"/>
              </a:defRPr>
            </a:pPr>
            <a:r>
              <a:t>Missing ; and )  →  Syntax Error with error recovery</a:t>
            </a:r>
          </a:p>
        </p:txBody>
      </p:sp>
      <p:sp>
        <p:nvSpPr>
          <p:cNvPr id="36" name="Rounded Rectangle 35"/>
          <p:cNvSpPr/>
          <p:nvPr/>
        </p:nvSpPr>
        <p:spPr>
          <a:xfrm>
            <a:off x="640080" y="5394960"/>
            <a:ext cx="10789920" cy="822960"/>
          </a:xfrm>
          <a:prstGeom prst="roundRect">
            <a:avLst/>
          </a:prstGeom>
          <a:solidFill>
            <a:srgbClr val="EBF3FB"/>
          </a:solidFill>
          <a:ln w="12700">
            <a:solidFill>
              <a:srgbClr val="3A8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5440680"/>
            <a:ext cx="10241280" cy="731520"/>
          </a:xfrm>
          <a:prstGeom prst="rect">
            <a:avLst/>
          </a:prstGeom>
          <a:noFill/>
        </p:spPr>
        <p:txBody>
          <a:bodyPr wrap="square">
            <a:spAutoFit/>
          </a:bodyPr>
          <a:lstStyle/>
          <a:p>
            <a:pPr algn="ctr">
              <a:lnSpc>
                <a:spcPts val="1950"/>
              </a:lnSpc>
              <a:spcAft>
                <a:spcPts val="0"/>
              </a:spcAft>
              <a:defRPr sz="1500" b="0" i="0">
                <a:solidFill>
                  <a:srgbClr val="1B2A4A"/>
                </a:solidFill>
                <a:latin typeface="Calibri"/>
              </a:defRPr>
            </a:pPr>
            <a:r>
              <a:t>All 9 test cases pass  •  5 valid programs compile with correct TAC output  •  4 invalid programs produce accurate error diagnostics with line numbers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10058400" cy="685800"/>
          </a:xfrm>
          <a:prstGeom prst="rect">
            <a:avLst/>
          </a:prstGeom>
          <a:noFill/>
        </p:spPr>
        <p:txBody>
          <a:bodyPr wrap="square">
            <a:spAutoFit/>
          </a:bodyPr>
          <a:lstStyle/>
          <a:p>
            <a:pPr algn="l">
              <a:lnSpc>
                <a:spcPts val="3900"/>
              </a:lnSpc>
              <a:spcAft>
                <a:spcPts val="0"/>
              </a:spcAft>
              <a:defRPr sz="3000" b="1" i="0">
                <a:solidFill>
                  <a:srgbClr val="FFFFFF"/>
                </a:solidFill>
                <a:latin typeface="Calibri"/>
              </a:defRPr>
            </a:pPr>
            <a:r>
              <a:t>Challenges, Conclusion &amp; Live Demonstration</a:t>
            </a:r>
          </a:p>
        </p:txBody>
      </p:sp>
      <p:sp>
        <p:nvSpPr>
          <p:cNvPr id="4" name="Rectangle 3"/>
          <p:cNvSpPr/>
          <p:nvPr/>
        </p:nvSpPr>
        <p:spPr>
          <a:xfrm>
            <a:off x="0" y="1051560"/>
            <a:ext cx="12191695" cy="50800"/>
          </a:xfrm>
          <a:prstGeom prst="rect">
            <a:avLst/>
          </a:prstGeom>
          <a:solidFill>
            <a:srgbClr val="3A86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355080"/>
            <a:ext cx="1097280" cy="365760"/>
          </a:xfrm>
          <a:prstGeom prst="rect">
            <a:avLst/>
          </a:prstGeom>
          <a:noFill/>
        </p:spPr>
        <p:txBody>
          <a:bodyPr wrap="square">
            <a:spAutoFit/>
          </a:bodyPr>
          <a:lstStyle/>
          <a:p>
            <a:pPr algn="r">
              <a:lnSpc>
                <a:spcPts val="1430"/>
              </a:lnSpc>
              <a:spcAft>
                <a:spcPts val="0"/>
              </a:spcAft>
              <a:defRPr sz="1100" b="0" i="0">
                <a:solidFill>
                  <a:srgbClr val="9CA3AF"/>
                </a:solidFill>
                <a:latin typeface="Calibri"/>
              </a:defRPr>
            </a:pPr>
            <a:r>
              <a:t>11 / 11</a:t>
            </a:r>
          </a:p>
        </p:txBody>
      </p:sp>
      <p:sp>
        <p:nvSpPr>
          <p:cNvPr id="7" name="TextBox 6"/>
          <p:cNvSpPr txBox="1"/>
          <p:nvPr/>
        </p:nvSpPr>
        <p:spPr>
          <a:xfrm>
            <a:off x="640080" y="1371600"/>
            <a:ext cx="5029200" cy="3971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rPr dirty="0"/>
              <a:t>  Challenge Faced</a:t>
            </a:r>
          </a:p>
        </p:txBody>
      </p:sp>
      <p:sp>
        <p:nvSpPr>
          <p:cNvPr id="8" name="Rounded Rectangle 7"/>
          <p:cNvSpPr/>
          <p:nvPr/>
        </p:nvSpPr>
        <p:spPr>
          <a:xfrm>
            <a:off x="640080" y="1828800"/>
            <a:ext cx="5029200" cy="1494440"/>
          </a:xfrm>
          <a:prstGeom prst="roundRect">
            <a:avLst/>
          </a:prstGeom>
          <a:solidFill>
            <a:schemeClr val="bg1"/>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920240"/>
            <a:ext cx="4663440" cy="1188720"/>
          </a:xfrm>
          <a:prstGeom prst="rect">
            <a:avLst/>
          </a:prstGeom>
          <a:noFill/>
        </p:spPr>
        <p:txBody>
          <a:bodyPr wrap="square">
            <a:spAutoFit/>
          </a:bodyPr>
          <a:lstStyle/>
          <a:p>
            <a:pPr algn="l">
              <a:spcBef>
                <a:spcPts val="0"/>
              </a:spcBef>
              <a:spcAft>
                <a:spcPts val="400"/>
              </a:spcAft>
              <a:defRPr sz="1600" b="1" i="0">
                <a:solidFill>
                  <a:srgbClr val="F59E0B"/>
                </a:solidFill>
                <a:latin typeface="Calibri"/>
              </a:defRPr>
            </a:pPr>
            <a:r>
              <a:rPr dirty="0"/>
              <a:t>Debugging Flex/Bison Integration</a:t>
            </a:r>
          </a:p>
          <a:p>
            <a:pPr algn="l">
              <a:spcBef>
                <a:spcPts val="0"/>
              </a:spcBef>
              <a:spcAft>
                <a:spcPts val="300"/>
              </a:spcAft>
              <a:defRPr sz="1300" b="0" i="0">
                <a:solidFill>
                  <a:srgbClr val="374151"/>
                </a:solidFill>
                <a:latin typeface="Calibri"/>
              </a:defRPr>
            </a:pPr>
            <a:r>
              <a:rPr dirty="0"/>
              <a:t>Coordinating the Flex </a:t>
            </a:r>
            <a:r>
              <a:rPr dirty="0" err="1"/>
              <a:t>lexer</a:t>
            </a:r>
            <a:r>
              <a:rPr dirty="0"/>
              <a:t> with the Bison parser required careful attention to token definitions, shared header files, and debugging cryptic shift-reduce conflicts. We resolved this through incremental testing — adding one grammar rule at a time and verifying the token flow.</a:t>
            </a:r>
          </a:p>
        </p:txBody>
      </p:sp>
      <p:sp>
        <p:nvSpPr>
          <p:cNvPr id="10" name="TextBox 9"/>
          <p:cNvSpPr txBox="1"/>
          <p:nvPr/>
        </p:nvSpPr>
        <p:spPr>
          <a:xfrm>
            <a:off x="640080" y="3383280"/>
            <a:ext cx="5029200" cy="397160"/>
          </a:xfrm>
          <a:prstGeom prst="rect">
            <a:avLst/>
          </a:prstGeom>
          <a:noFill/>
        </p:spPr>
        <p:txBody>
          <a:bodyPr wrap="square">
            <a:spAutoFit/>
          </a:bodyPr>
          <a:lstStyle/>
          <a:p>
            <a:pPr algn="l">
              <a:lnSpc>
                <a:spcPts val="2470"/>
              </a:lnSpc>
              <a:spcAft>
                <a:spcPts val="0"/>
              </a:spcAft>
              <a:defRPr sz="1900" b="1" i="0">
                <a:solidFill>
                  <a:srgbClr val="10B981"/>
                </a:solidFill>
                <a:latin typeface="Calibri"/>
              </a:defRPr>
            </a:pPr>
            <a:r>
              <a:rPr dirty="0"/>
              <a:t>  What We Achieved</a:t>
            </a:r>
          </a:p>
        </p:txBody>
      </p:sp>
      <p:sp>
        <p:nvSpPr>
          <p:cNvPr id="11" name="TextBox 10"/>
          <p:cNvSpPr txBox="1"/>
          <p:nvPr/>
        </p:nvSpPr>
        <p:spPr>
          <a:xfrm>
            <a:off x="640080" y="3840480"/>
            <a:ext cx="5029200" cy="1828800"/>
          </a:xfrm>
          <a:prstGeom prst="rect">
            <a:avLst/>
          </a:prstGeom>
          <a:noFill/>
        </p:spPr>
        <p:txBody>
          <a:bodyPr wrap="square">
            <a:spAutoFit/>
          </a:bodyPr>
          <a:lstStyle/>
          <a:p>
            <a:pPr algn="l">
              <a:spcBef>
                <a:spcPts val="0"/>
              </a:spcBef>
              <a:spcAft>
                <a:spcPts val="400"/>
              </a:spcAft>
              <a:defRPr sz="1400" b="0" i="0">
                <a:solidFill>
                  <a:srgbClr val="374151"/>
                </a:solidFill>
                <a:latin typeface="Calibri"/>
              </a:defRPr>
            </a:pPr>
            <a:r>
              <a:t>•  Complete 6-phase front-end compiler pipeline</a:t>
            </a:r>
          </a:p>
          <a:p>
            <a:pPr algn="l">
              <a:spcBef>
                <a:spcPts val="0"/>
              </a:spcBef>
              <a:spcAft>
                <a:spcPts val="400"/>
              </a:spcAft>
              <a:defRPr sz="1400" b="0" i="0">
                <a:solidFill>
                  <a:srgbClr val="374151"/>
                </a:solidFill>
                <a:latin typeface="Calibri"/>
              </a:defRPr>
            </a:pPr>
            <a:r>
              <a:t>•  Lexer → Parser → AST → Symbol Table → Semantic → TAC</a:t>
            </a:r>
          </a:p>
          <a:p>
            <a:pPr algn="l">
              <a:spcBef>
                <a:spcPts val="0"/>
              </a:spcBef>
              <a:spcAft>
                <a:spcPts val="400"/>
              </a:spcAft>
              <a:defRPr sz="1400" b="0" i="0">
                <a:solidFill>
                  <a:srgbClr val="374151"/>
                </a:solidFill>
                <a:latin typeface="Calibri"/>
              </a:defRPr>
            </a:pPr>
            <a:r>
              <a:t>•  Accurate error detection with line numbers</a:t>
            </a:r>
          </a:p>
          <a:p>
            <a:pPr algn="l">
              <a:spcBef>
                <a:spcPts val="0"/>
              </a:spcBef>
              <a:spcAft>
                <a:spcPts val="400"/>
              </a:spcAft>
              <a:defRPr sz="1400" b="0" i="0">
                <a:solidFill>
                  <a:srgbClr val="374151"/>
                </a:solidFill>
                <a:latin typeface="Calibri"/>
              </a:defRPr>
            </a:pPr>
            <a:r>
              <a:t>•  Comprehensive test suite (9 test cases)</a:t>
            </a:r>
          </a:p>
          <a:p>
            <a:pPr algn="l">
              <a:spcBef>
                <a:spcPts val="0"/>
              </a:spcBef>
              <a:spcAft>
                <a:spcPts val="400"/>
              </a:spcAft>
              <a:defRPr sz="1400" b="0" i="0">
                <a:solidFill>
                  <a:srgbClr val="374151"/>
                </a:solidFill>
                <a:latin typeface="Calibri"/>
              </a:defRPr>
            </a:pPr>
            <a:r>
              <a:t>•  Clean, documented, and buildable codebase</a:t>
            </a:r>
          </a:p>
        </p:txBody>
      </p:sp>
      <p:sp>
        <p:nvSpPr>
          <p:cNvPr id="12" name="TextBox 11"/>
          <p:cNvSpPr txBox="1"/>
          <p:nvPr/>
        </p:nvSpPr>
        <p:spPr>
          <a:xfrm>
            <a:off x="640080" y="5394960"/>
            <a:ext cx="5029200" cy="320040"/>
          </a:xfrm>
          <a:prstGeom prst="rect">
            <a:avLst/>
          </a:prstGeom>
          <a:noFill/>
        </p:spPr>
        <p:txBody>
          <a:bodyPr wrap="square">
            <a:spAutoFit/>
          </a:bodyPr>
          <a:lstStyle/>
          <a:p>
            <a:pPr algn="l">
              <a:lnSpc>
                <a:spcPts val="1690"/>
              </a:lnSpc>
              <a:spcAft>
                <a:spcPts val="0"/>
              </a:spcAft>
              <a:defRPr sz="1300" b="0" i="1">
                <a:solidFill>
                  <a:srgbClr val="6B7280"/>
                </a:solidFill>
                <a:latin typeface="Calibri"/>
              </a:defRPr>
            </a:pPr>
            <a:r>
              <a:t>Future Work:  Optimization passes  •  Backend code generation  •  More language features</a:t>
            </a:r>
          </a:p>
        </p:txBody>
      </p:sp>
      <p:sp>
        <p:nvSpPr>
          <p:cNvPr id="13" name="TextBox 12"/>
          <p:cNvSpPr txBox="1"/>
          <p:nvPr/>
        </p:nvSpPr>
        <p:spPr>
          <a:xfrm>
            <a:off x="6400800" y="1371600"/>
            <a:ext cx="5029200" cy="397160"/>
          </a:xfrm>
          <a:prstGeom prst="rect">
            <a:avLst/>
          </a:prstGeom>
          <a:noFill/>
        </p:spPr>
        <p:txBody>
          <a:bodyPr wrap="square">
            <a:spAutoFit/>
          </a:bodyPr>
          <a:lstStyle/>
          <a:p>
            <a:pPr algn="l">
              <a:lnSpc>
                <a:spcPts val="2470"/>
              </a:lnSpc>
              <a:spcAft>
                <a:spcPts val="0"/>
              </a:spcAft>
              <a:defRPr sz="1900" b="1" i="0">
                <a:solidFill>
                  <a:srgbClr val="1B2A4A"/>
                </a:solidFill>
                <a:latin typeface="Calibri"/>
              </a:defRPr>
            </a:pPr>
            <a:r>
              <a:rPr dirty="0"/>
              <a:t>  Live Demonstration</a:t>
            </a:r>
          </a:p>
        </p:txBody>
      </p:sp>
      <p:sp>
        <p:nvSpPr>
          <p:cNvPr id="14" name="Rounded Rectangle 13"/>
          <p:cNvSpPr/>
          <p:nvPr/>
        </p:nvSpPr>
        <p:spPr>
          <a:xfrm>
            <a:off x="6400800" y="1828800"/>
            <a:ext cx="5029200" cy="3200400"/>
          </a:xfrm>
          <a:prstGeom prst="roundRect">
            <a:avLst/>
          </a:prstGeom>
          <a:solidFill>
            <a:srgbClr val="EBF3FB"/>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2011680"/>
            <a:ext cx="4572000" cy="2926080"/>
          </a:xfrm>
          <a:prstGeom prst="rect">
            <a:avLst/>
          </a:prstGeom>
          <a:noFill/>
        </p:spPr>
        <p:txBody>
          <a:bodyPr wrap="square">
            <a:spAutoFit/>
          </a:bodyPr>
          <a:lstStyle/>
          <a:p>
            <a:pPr algn="l">
              <a:spcBef>
                <a:spcPts val="0"/>
              </a:spcBef>
              <a:spcAft>
                <a:spcPts val="1200"/>
              </a:spcAft>
              <a:defRPr sz="1600" b="1" i="0">
                <a:solidFill>
                  <a:srgbClr val="1B2A4A"/>
                </a:solidFill>
                <a:latin typeface="Calibri"/>
              </a:defRPr>
            </a:pPr>
            <a:r>
              <a:t>Md Monsur Alam will now demonstrate:</a:t>
            </a:r>
          </a:p>
          <a:p>
            <a:pPr algn="l">
              <a:spcBef>
                <a:spcPts val="0"/>
              </a:spcBef>
              <a:spcAft>
                <a:spcPts val="600"/>
              </a:spcAft>
              <a:defRPr sz="1400" b="0" i="0">
                <a:solidFill>
                  <a:srgbClr val="374151"/>
                </a:solidFill>
                <a:latin typeface="Calibri"/>
              </a:defRPr>
            </a:pPr>
            <a:r>
              <a:t>1.  Build the compiler:  make</a:t>
            </a:r>
          </a:p>
          <a:p>
            <a:pPr algn="l">
              <a:spcBef>
                <a:spcPts val="0"/>
              </a:spcBef>
              <a:spcAft>
                <a:spcPts val="400"/>
              </a:spcAft>
              <a:defRPr sz="1400" b="0" i="0">
                <a:solidFill>
                  <a:srgbClr val="374151"/>
                </a:solidFill>
                <a:latin typeface="Calibri"/>
              </a:defRPr>
            </a:pPr>
            <a:r>
              <a:t>2.  Run valid program  (sample.mc)</a:t>
            </a:r>
          </a:p>
          <a:p>
            <a:pPr algn="l">
              <a:spcBef>
                <a:spcPts val="0"/>
              </a:spcBef>
              <a:spcAft>
                <a:spcPts val="600"/>
              </a:spcAft>
              <a:defRPr sz="1300" b="0" i="0">
                <a:solidFill>
                  <a:srgbClr val="6B7280"/>
                </a:solidFill>
                <a:latin typeface="Calibri"/>
              </a:defRPr>
            </a:pPr>
            <a:r>
              <a:t>     → Show: Tokens, AST, Symbol Table, TAC</a:t>
            </a:r>
          </a:p>
          <a:p>
            <a:pPr algn="l">
              <a:spcBef>
                <a:spcPts val="0"/>
              </a:spcBef>
              <a:spcAft>
                <a:spcPts val="400"/>
              </a:spcAft>
              <a:defRPr sz="1400" b="0" i="0">
                <a:solidFill>
                  <a:srgbClr val="374151"/>
                </a:solidFill>
                <a:latin typeface="Calibri"/>
              </a:defRPr>
            </a:pPr>
            <a:r>
              <a:t>3.  Run invalid program  (error examples)</a:t>
            </a:r>
          </a:p>
          <a:p>
            <a:pPr algn="l">
              <a:spcBef>
                <a:spcPts val="0"/>
              </a:spcBef>
              <a:spcAft>
                <a:spcPts val="600"/>
              </a:spcAft>
              <a:defRPr sz="1300" b="0" i="0">
                <a:solidFill>
                  <a:srgbClr val="6B7280"/>
                </a:solidFill>
                <a:latin typeface="Calibri"/>
              </a:defRPr>
            </a:pPr>
            <a:r>
              <a:t>     → Show: Type mismatch, undeclared variable errors</a:t>
            </a:r>
          </a:p>
          <a:p>
            <a:pPr algn="l">
              <a:spcBef>
                <a:spcPts val="0"/>
              </a:spcBef>
              <a:spcAft>
                <a:spcPts val="600"/>
              </a:spcAft>
              <a:defRPr sz="1400" b="0" i="0">
                <a:solidFill>
                  <a:srgbClr val="374151"/>
                </a:solidFill>
                <a:latin typeface="Calibri"/>
              </a:defRPr>
            </a:pPr>
            <a:r>
              <a:t>4.  Show test suite execution</a:t>
            </a:r>
          </a:p>
        </p:txBody>
      </p:sp>
      <p:sp>
        <p:nvSpPr>
          <p:cNvPr id="16" name="Rounded Rectangle 15"/>
          <p:cNvSpPr/>
          <p:nvPr/>
        </p:nvSpPr>
        <p:spPr>
          <a:xfrm>
            <a:off x="6400800" y="5212080"/>
            <a:ext cx="5029200" cy="914400"/>
          </a:xfrm>
          <a:prstGeom prst="roundRect">
            <a:avLst/>
          </a:prstGeo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5303520"/>
            <a:ext cx="5029200" cy="411480"/>
          </a:xfrm>
          <a:prstGeom prst="rect">
            <a:avLst/>
          </a:prstGeom>
          <a:noFill/>
        </p:spPr>
        <p:txBody>
          <a:bodyPr wrap="square">
            <a:spAutoFit/>
          </a:bodyPr>
          <a:lstStyle/>
          <a:p>
            <a:pPr algn="ctr">
              <a:lnSpc>
                <a:spcPts val="3380"/>
              </a:lnSpc>
              <a:spcAft>
                <a:spcPts val="0"/>
              </a:spcAft>
              <a:defRPr sz="2600" b="1" i="0">
                <a:solidFill>
                  <a:srgbClr val="FFFFFF"/>
                </a:solidFill>
                <a:latin typeface="Calibri"/>
              </a:defRPr>
            </a:pPr>
            <a:r>
              <a:t>Thank You!</a:t>
            </a:r>
          </a:p>
        </p:txBody>
      </p:sp>
      <p:sp>
        <p:nvSpPr>
          <p:cNvPr id="18" name="TextBox 17"/>
          <p:cNvSpPr txBox="1"/>
          <p:nvPr/>
        </p:nvSpPr>
        <p:spPr>
          <a:xfrm>
            <a:off x="6400800" y="5669280"/>
            <a:ext cx="5029200" cy="320040"/>
          </a:xfrm>
          <a:prstGeom prst="rect">
            <a:avLst/>
          </a:prstGeom>
          <a:noFill/>
        </p:spPr>
        <p:txBody>
          <a:bodyPr wrap="square">
            <a:spAutoFit/>
          </a:bodyPr>
          <a:lstStyle/>
          <a:p>
            <a:pPr algn="ctr">
              <a:lnSpc>
                <a:spcPts val="1950"/>
              </a:lnSpc>
              <a:spcAft>
                <a:spcPts val="0"/>
              </a:spcAft>
              <a:defRPr sz="1500" b="0" i="0">
                <a:solidFill>
                  <a:srgbClr val="D6E8F7"/>
                </a:solidFill>
                <a:latin typeface="Calibri"/>
              </a:defRPr>
            </a:pPr>
            <a:r>
              <a:t>We are now ready for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4420</Words>
  <Application>Microsoft Office PowerPoint</Application>
  <PresentationFormat>Widescreen</PresentationFormat>
  <Paragraphs>363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Rajib Dab</cp:lastModifiedBy>
  <cp:revision>6</cp:revision>
  <dcterms:created xsi:type="dcterms:W3CDTF">2013-01-27T09:14:16Z</dcterms:created>
  <dcterms:modified xsi:type="dcterms:W3CDTF">2026-08-09T01:22:05Z</dcterms:modified>
  <cp:category/>
</cp:coreProperties>
</file>